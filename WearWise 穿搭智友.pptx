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1"/>
  </p:notesMasterIdLst>
  <p:sldIdLst>
    <p:sldId id="256" r:id="rId2"/>
    <p:sldId id="257" r:id="rId3"/>
    <p:sldId id="258" r:id="rId4"/>
    <p:sldId id="259" r:id="rId5"/>
    <p:sldId id="260" r:id="rId6"/>
    <p:sldId id="261" r:id="rId7"/>
    <p:sldId id="262" r:id="rId8"/>
    <p:sldId id="263" r:id="rId9"/>
    <p:sldId id="264" r:id="rId1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p:scale>
          <a:sx n="100" d="100"/>
          <a:sy n="100" d="100"/>
        </p:scale>
        <p:origin x="420" y="2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87664438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8" Type="http://schemas.openxmlformats.org/officeDocument/2006/relationships/image" Target="../media/image12.png"/><Relationship Id="rId13" Type="http://schemas.openxmlformats.org/officeDocument/2006/relationships/image" Target="../media/image17.png"/><Relationship Id="rId3" Type="http://schemas.openxmlformats.org/officeDocument/2006/relationships/image" Target="../media/image7.png"/><Relationship Id="rId7" Type="http://schemas.openxmlformats.org/officeDocument/2006/relationships/image" Target="../media/image11.png"/><Relationship Id="rId12" Type="http://schemas.openxmlformats.org/officeDocument/2006/relationships/image" Target="../media/image16.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10.png"/><Relationship Id="rId11" Type="http://schemas.openxmlformats.org/officeDocument/2006/relationships/image" Target="../media/image15.png"/><Relationship Id="rId5" Type="http://schemas.openxmlformats.org/officeDocument/2006/relationships/image" Target="../media/image9.png"/><Relationship Id="rId10" Type="http://schemas.openxmlformats.org/officeDocument/2006/relationships/image" Target="../media/image14.png"/><Relationship Id="rId4" Type="http://schemas.openxmlformats.org/officeDocument/2006/relationships/image" Target="../media/image8.png"/><Relationship Id="rId9" Type="http://schemas.openxmlformats.org/officeDocument/2006/relationships/image" Target="../media/image13.png"/></Relationships>
</file>

<file path=ppt/slides/_rels/slide3.xml.rels><?xml version="1.0" encoding="UTF-8" standalone="yes"?>
<Relationships xmlns="http://schemas.openxmlformats.org/package/2006/relationships"><Relationship Id="rId8" Type="http://schemas.openxmlformats.org/officeDocument/2006/relationships/image" Target="../media/image22.png"/><Relationship Id="rId13" Type="http://schemas.openxmlformats.org/officeDocument/2006/relationships/image" Target="../media/image27.png"/><Relationship Id="rId3" Type="http://schemas.openxmlformats.org/officeDocument/2006/relationships/image" Target="../media/image7.png"/><Relationship Id="rId7" Type="http://schemas.openxmlformats.org/officeDocument/2006/relationships/image" Target="../media/image21.png"/><Relationship Id="rId12" Type="http://schemas.openxmlformats.org/officeDocument/2006/relationships/image" Target="../media/image26.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20.png"/><Relationship Id="rId11" Type="http://schemas.openxmlformats.org/officeDocument/2006/relationships/image" Target="../media/image25.png"/><Relationship Id="rId5" Type="http://schemas.openxmlformats.org/officeDocument/2006/relationships/image" Target="../media/image19.png"/><Relationship Id="rId10" Type="http://schemas.openxmlformats.org/officeDocument/2006/relationships/image" Target="../media/image24.png"/><Relationship Id="rId4" Type="http://schemas.openxmlformats.org/officeDocument/2006/relationships/image" Target="../media/image18.png"/><Relationship Id="rId9" Type="http://schemas.openxmlformats.org/officeDocument/2006/relationships/image" Target="../media/image23.png"/><Relationship Id="rId14" Type="http://schemas.openxmlformats.org/officeDocument/2006/relationships/image" Target="../media/image28.png"/></Relationships>
</file>

<file path=ppt/slides/_rels/slide4.xml.rels><?xml version="1.0" encoding="UTF-8" standalone="yes"?>
<Relationships xmlns="http://schemas.openxmlformats.org/package/2006/relationships"><Relationship Id="rId8" Type="http://schemas.openxmlformats.org/officeDocument/2006/relationships/image" Target="../media/image33.png"/><Relationship Id="rId13" Type="http://schemas.openxmlformats.org/officeDocument/2006/relationships/image" Target="../media/image38.png"/><Relationship Id="rId3" Type="http://schemas.openxmlformats.org/officeDocument/2006/relationships/image" Target="../media/image7.png"/><Relationship Id="rId7" Type="http://schemas.openxmlformats.org/officeDocument/2006/relationships/image" Target="../media/image32.png"/><Relationship Id="rId12" Type="http://schemas.openxmlformats.org/officeDocument/2006/relationships/image" Target="../media/image37.png"/><Relationship Id="rId17" Type="http://schemas.openxmlformats.org/officeDocument/2006/relationships/image" Target="../media/image42.png"/><Relationship Id="rId2" Type="http://schemas.openxmlformats.org/officeDocument/2006/relationships/notesSlide" Target="../notesSlides/notesSlide4.xml"/><Relationship Id="rId16" Type="http://schemas.openxmlformats.org/officeDocument/2006/relationships/image" Target="../media/image41.png"/><Relationship Id="rId1" Type="http://schemas.openxmlformats.org/officeDocument/2006/relationships/slideLayout" Target="../slideLayouts/slideLayout1.xml"/><Relationship Id="rId6" Type="http://schemas.openxmlformats.org/officeDocument/2006/relationships/image" Target="../media/image31.png"/><Relationship Id="rId11" Type="http://schemas.openxmlformats.org/officeDocument/2006/relationships/image" Target="../media/image36.png"/><Relationship Id="rId5" Type="http://schemas.openxmlformats.org/officeDocument/2006/relationships/image" Target="../media/image30.png"/><Relationship Id="rId15" Type="http://schemas.openxmlformats.org/officeDocument/2006/relationships/image" Target="../media/image40.png"/><Relationship Id="rId10" Type="http://schemas.openxmlformats.org/officeDocument/2006/relationships/image" Target="../media/image35.png"/><Relationship Id="rId4" Type="http://schemas.openxmlformats.org/officeDocument/2006/relationships/image" Target="../media/image29.png"/><Relationship Id="rId9" Type="http://schemas.openxmlformats.org/officeDocument/2006/relationships/image" Target="../media/image34.png"/><Relationship Id="rId14" Type="http://schemas.openxmlformats.org/officeDocument/2006/relationships/image" Target="../media/image39.png"/></Relationships>
</file>

<file path=ppt/slides/_rels/slide5.xml.rels><?xml version="1.0" encoding="UTF-8" standalone="yes"?>
<Relationships xmlns="http://schemas.openxmlformats.org/package/2006/relationships"><Relationship Id="rId8" Type="http://schemas.openxmlformats.org/officeDocument/2006/relationships/image" Target="../media/image46.png"/><Relationship Id="rId13" Type="http://schemas.openxmlformats.org/officeDocument/2006/relationships/image" Target="../media/image51.png"/><Relationship Id="rId18" Type="http://schemas.openxmlformats.org/officeDocument/2006/relationships/image" Target="../media/image56.png"/><Relationship Id="rId26" Type="http://schemas.openxmlformats.org/officeDocument/2006/relationships/image" Target="../media/image64.png"/><Relationship Id="rId3" Type="http://schemas.openxmlformats.org/officeDocument/2006/relationships/image" Target="../media/image7.png"/><Relationship Id="rId21" Type="http://schemas.openxmlformats.org/officeDocument/2006/relationships/image" Target="../media/image59.png"/><Relationship Id="rId7" Type="http://schemas.openxmlformats.org/officeDocument/2006/relationships/image" Target="../media/image45.png"/><Relationship Id="rId12" Type="http://schemas.openxmlformats.org/officeDocument/2006/relationships/image" Target="../media/image50.png"/><Relationship Id="rId17" Type="http://schemas.openxmlformats.org/officeDocument/2006/relationships/image" Target="../media/image55.png"/><Relationship Id="rId25" Type="http://schemas.openxmlformats.org/officeDocument/2006/relationships/image" Target="../media/image63.png"/><Relationship Id="rId2" Type="http://schemas.openxmlformats.org/officeDocument/2006/relationships/notesSlide" Target="../notesSlides/notesSlide5.xml"/><Relationship Id="rId16" Type="http://schemas.openxmlformats.org/officeDocument/2006/relationships/image" Target="../media/image54.png"/><Relationship Id="rId20" Type="http://schemas.openxmlformats.org/officeDocument/2006/relationships/image" Target="../media/image58.png"/><Relationship Id="rId29" Type="http://schemas.openxmlformats.org/officeDocument/2006/relationships/image" Target="../media/image67.png"/><Relationship Id="rId1" Type="http://schemas.openxmlformats.org/officeDocument/2006/relationships/slideLayout" Target="../slideLayouts/slideLayout1.xml"/><Relationship Id="rId6" Type="http://schemas.openxmlformats.org/officeDocument/2006/relationships/image" Target="../media/image44.png"/><Relationship Id="rId11" Type="http://schemas.openxmlformats.org/officeDocument/2006/relationships/image" Target="../media/image49.png"/><Relationship Id="rId24" Type="http://schemas.openxmlformats.org/officeDocument/2006/relationships/image" Target="../media/image62.png"/><Relationship Id="rId5" Type="http://schemas.openxmlformats.org/officeDocument/2006/relationships/image" Target="../media/image43.png"/><Relationship Id="rId15" Type="http://schemas.openxmlformats.org/officeDocument/2006/relationships/image" Target="../media/image53.png"/><Relationship Id="rId23" Type="http://schemas.openxmlformats.org/officeDocument/2006/relationships/image" Target="../media/image61.png"/><Relationship Id="rId28" Type="http://schemas.openxmlformats.org/officeDocument/2006/relationships/image" Target="../media/image66.png"/><Relationship Id="rId10" Type="http://schemas.openxmlformats.org/officeDocument/2006/relationships/image" Target="../media/image48.png"/><Relationship Id="rId19" Type="http://schemas.openxmlformats.org/officeDocument/2006/relationships/image" Target="../media/image57.png"/><Relationship Id="rId31" Type="http://schemas.openxmlformats.org/officeDocument/2006/relationships/image" Target="../media/image69.png"/><Relationship Id="rId4" Type="http://schemas.openxmlformats.org/officeDocument/2006/relationships/image" Target="../media/image8.png"/><Relationship Id="rId9" Type="http://schemas.openxmlformats.org/officeDocument/2006/relationships/image" Target="../media/image47.png"/><Relationship Id="rId14" Type="http://schemas.openxmlformats.org/officeDocument/2006/relationships/image" Target="../media/image52.png"/><Relationship Id="rId22" Type="http://schemas.openxmlformats.org/officeDocument/2006/relationships/image" Target="../media/image60.png"/><Relationship Id="rId27" Type="http://schemas.openxmlformats.org/officeDocument/2006/relationships/image" Target="../media/image65.png"/><Relationship Id="rId30" Type="http://schemas.openxmlformats.org/officeDocument/2006/relationships/image" Target="../media/image68.png"/></Relationships>
</file>

<file path=ppt/slides/_rels/slide6.xml.rels><?xml version="1.0" encoding="UTF-8" standalone="yes"?>
<Relationships xmlns="http://schemas.openxmlformats.org/package/2006/relationships"><Relationship Id="rId8" Type="http://schemas.openxmlformats.org/officeDocument/2006/relationships/image" Target="../media/image74.png"/><Relationship Id="rId13" Type="http://schemas.openxmlformats.org/officeDocument/2006/relationships/image" Target="../media/image79.png"/><Relationship Id="rId3" Type="http://schemas.openxmlformats.org/officeDocument/2006/relationships/image" Target="../media/image7.png"/><Relationship Id="rId7" Type="http://schemas.openxmlformats.org/officeDocument/2006/relationships/image" Target="../media/image73.png"/><Relationship Id="rId12" Type="http://schemas.openxmlformats.org/officeDocument/2006/relationships/image" Target="../media/image78.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72.png"/><Relationship Id="rId11" Type="http://schemas.openxmlformats.org/officeDocument/2006/relationships/image" Target="../media/image77.png"/><Relationship Id="rId5" Type="http://schemas.openxmlformats.org/officeDocument/2006/relationships/image" Target="../media/image71.png"/><Relationship Id="rId10" Type="http://schemas.openxmlformats.org/officeDocument/2006/relationships/image" Target="../media/image76.png"/><Relationship Id="rId4" Type="http://schemas.openxmlformats.org/officeDocument/2006/relationships/image" Target="../media/image70.png"/><Relationship Id="rId9" Type="http://schemas.openxmlformats.org/officeDocument/2006/relationships/image" Target="../media/image75.png"/></Relationships>
</file>

<file path=ppt/slides/_rels/slide7.xml.rels><?xml version="1.0" encoding="UTF-8" standalone="yes"?>
<Relationships xmlns="http://schemas.openxmlformats.org/package/2006/relationships"><Relationship Id="rId8" Type="http://schemas.openxmlformats.org/officeDocument/2006/relationships/image" Target="../media/image83.png"/><Relationship Id="rId13" Type="http://schemas.openxmlformats.org/officeDocument/2006/relationships/image" Target="../media/image88.png"/><Relationship Id="rId3" Type="http://schemas.openxmlformats.org/officeDocument/2006/relationships/image" Target="../media/image7.png"/><Relationship Id="rId7" Type="http://schemas.openxmlformats.org/officeDocument/2006/relationships/image" Target="../media/image82.png"/><Relationship Id="rId12" Type="http://schemas.openxmlformats.org/officeDocument/2006/relationships/image" Target="../media/image87.png"/><Relationship Id="rId17" Type="http://schemas.openxmlformats.org/officeDocument/2006/relationships/image" Target="../media/image92.png"/><Relationship Id="rId2" Type="http://schemas.openxmlformats.org/officeDocument/2006/relationships/notesSlide" Target="../notesSlides/notesSlide7.xml"/><Relationship Id="rId16" Type="http://schemas.openxmlformats.org/officeDocument/2006/relationships/image" Target="../media/image91.png"/><Relationship Id="rId1" Type="http://schemas.openxmlformats.org/officeDocument/2006/relationships/slideLayout" Target="../slideLayouts/slideLayout1.xml"/><Relationship Id="rId6" Type="http://schemas.openxmlformats.org/officeDocument/2006/relationships/image" Target="../media/image81.png"/><Relationship Id="rId11" Type="http://schemas.openxmlformats.org/officeDocument/2006/relationships/image" Target="../media/image86.png"/><Relationship Id="rId5" Type="http://schemas.openxmlformats.org/officeDocument/2006/relationships/image" Target="../media/image80.png"/><Relationship Id="rId15" Type="http://schemas.openxmlformats.org/officeDocument/2006/relationships/image" Target="../media/image90.png"/><Relationship Id="rId10" Type="http://schemas.openxmlformats.org/officeDocument/2006/relationships/image" Target="../media/image85.png"/><Relationship Id="rId4" Type="http://schemas.openxmlformats.org/officeDocument/2006/relationships/image" Target="../media/image29.png"/><Relationship Id="rId9" Type="http://schemas.openxmlformats.org/officeDocument/2006/relationships/image" Target="../media/image84.png"/><Relationship Id="rId14" Type="http://schemas.openxmlformats.org/officeDocument/2006/relationships/image" Target="../media/image89.png"/></Relationships>
</file>

<file path=ppt/slides/_rels/slide8.xml.rels><?xml version="1.0" encoding="UTF-8" standalone="yes"?>
<Relationships xmlns="http://schemas.openxmlformats.org/package/2006/relationships"><Relationship Id="rId8" Type="http://schemas.openxmlformats.org/officeDocument/2006/relationships/image" Target="../media/image96.png"/><Relationship Id="rId13" Type="http://schemas.openxmlformats.org/officeDocument/2006/relationships/image" Target="../media/image101.png"/><Relationship Id="rId3" Type="http://schemas.openxmlformats.org/officeDocument/2006/relationships/image" Target="../media/image7.png"/><Relationship Id="rId7" Type="http://schemas.openxmlformats.org/officeDocument/2006/relationships/image" Target="../media/image95.png"/><Relationship Id="rId12" Type="http://schemas.openxmlformats.org/officeDocument/2006/relationships/image" Target="../media/image100.png"/><Relationship Id="rId2" Type="http://schemas.openxmlformats.org/officeDocument/2006/relationships/notesSlide" Target="../notesSlides/notesSlide8.xml"/><Relationship Id="rId16" Type="http://schemas.openxmlformats.org/officeDocument/2006/relationships/image" Target="../media/image104.png"/><Relationship Id="rId1" Type="http://schemas.openxmlformats.org/officeDocument/2006/relationships/slideLayout" Target="../slideLayouts/slideLayout1.xml"/><Relationship Id="rId6" Type="http://schemas.openxmlformats.org/officeDocument/2006/relationships/image" Target="../media/image94.png"/><Relationship Id="rId11" Type="http://schemas.openxmlformats.org/officeDocument/2006/relationships/image" Target="../media/image99.png"/><Relationship Id="rId5" Type="http://schemas.openxmlformats.org/officeDocument/2006/relationships/image" Target="../media/image93.png"/><Relationship Id="rId15" Type="http://schemas.openxmlformats.org/officeDocument/2006/relationships/image" Target="../media/image103.png"/><Relationship Id="rId10" Type="http://schemas.openxmlformats.org/officeDocument/2006/relationships/image" Target="../media/image98.png"/><Relationship Id="rId4" Type="http://schemas.openxmlformats.org/officeDocument/2006/relationships/image" Target="../media/image29.png"/><Relationship Id="rId9" Type="http://schemas.openxmlformats.org/officeDocument/2006/relationships/image" Target="../media/image97.png"/><Relationship Id="rId14" Type="http://schemas.openxmlformats.org/officeDocument/2006/relationships/image" Target="../media/image102.png"/></Relationships>
</file>

<file path=ppt/slides/_rels/slide9.xml.rels><?xml version="1.0" encoding="UTF-8" standalone="yes"?>
<Relationships xmlns="http://schemas.openxmlformats.org/package/2006/relationships"><Relationship Id="rId8" Type="http://schemas.openxmlformats.org/officeDocument/2006/relationships/image" Target="../media/image33.png"/><Relationship Id="rId13" Type="http://schemas.openxmlformats.org/officeDocument/2006/relationships/image" Target="../media/image112.png"/><Relationship Id="rId3" Type="http://schemas.openxmlformats.org/officeDocument/2006/relationships/image" Target="../media/image105.png"/><Relationship Id="rId7" Type="http://schemas.openxmlformats.org/officeDocument/2006/relationships/image" Target="../media/image108.png"/><Relationship Id="rId12" Type="http://schemas.openxmlformats.org/officeDocument/2006/relationships/image" Target="../media/image38.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107.png"/><Relationship Id="rId11" Type="http://schemas.openxmlformats.org/officeDocument/2006/relationships/image" Target="../media/image111.png"/><Relationship Id="rId5" Type="http://schemas.openxmlformats.org/officeDocument/2006/relationships/image" Target="../media/image106.png"/><Relationship Id="rId15" Type="http://schemas.openxmlformats.org/officeDocument/2006/relationships/image" Target="../media/image114.png"/><Relationship Id="rId10" Type="http://schemas.openxmlformats.org/officeDocument/2006/relationships/image" Target="../media/image110.png"/><Relationship Id="rId4" Type="http://schemas.openxmlformats.org/officeDocument/2006/relationships/image" Target="../media/image8.png"/><Relationship Id="rId9" Type="http://schemas.openxmlformats.org/officeDocument/2006/relationships/image" Target="../media/image109.png"/><Relationship Id="rId14" Type="http://schemas.openxmlformats.org/officeDocument/2006/relationships/image" Target="../media/image113.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2192000" cy="6858000"/>
          </a:xfrm>
          <a:prstGeom prst="rect">
            <a:avLst/>
          </a:prstGeom>
        </p:spPr>
      </p:pic>
      <p:pic>
        <p:nvPicPr>
          <p:cNvPr id="3" name="Image 1" descr="preencoded.png"/>
          <p:cNvPicPr>
            <a:picLocks noChangeAspect="1"/>
          </p:cNvPicPr>
          <p:nvPr/>
        </p:nvPicPr>
        <p:blipFill>
          <a:blip r:embed="rId4"/>
          <a:stretch>
            <a:fillRect/>
          </a:stretch>
        </p:blipFill>
        <p:spPr>
          <a:xfrm>
            <a:off x="762000" y="2038350"/>
            <a:ext cx="1143000" cy="38100"/>
          </a:xfrm>
          <a:prstGeom prst="rect">
            <a:avLst/>
          </a:prstGeom>
        </p:spPr>
      </p:pic>
      <p:pic>
        <p:nvPicPr>
          <p:cNvPr id="4" name="Image 2" descr="preencoded.png"/>
          <p:cNvPicPr>
            <a:picLocks noChangeAspect="1"/>
          </p:cNvPicPr>
          <p:nvPr/>
        </p:nvPicPr>
        <p:blipFill>
          <a:blip r:embed="rId5"/>
          <a:stretch>
            <a:fillRect/>
          </a:stretch>
        </p:blipFill>
        <p:spPr>
          <a:xfrm>
            <a:off x="762000" y="4210050"/>
            <a:ext cx="38100" cy="457200"/>
          </a:xfrm>
          <a:prstGeom prst="rect">
            <a:avLst/>
          </a:prstGeom>
        </p:spPr>
      </p:pic>
      <p:pic>
        <p:nvPicPr>
          <p:cNvPr id="5" name="Image 3" descr="preencoded.png"/>
          <p:cNvPicPr>
            <a:picLocks noChangeAspect="1"/>
          </p:cNvPicPr>
          <p:nvPr/>
        </p:nvPicPr>
        <p:blipFill>
          <a:blip r:embed="rId6"/>
          <a:stretch>
            <a:fillRect/>
          </a:stretch>
        </p:blipFill>
        <p:spPr>
          <a:xfrm>
            <a:off x="6762750" y="1047750"/>
            <a:ext cx="4762500" cy="4762500"/>
          </a:xfrm>
          <a:prstGeom prst="rect">
            <a:avLst/>
          </a:prstGeom>
        </p:spPr>
      </p:pic>
      <p:pic>
        <p:nvPicPr>
          <p:cNvPr id="6" name="Image 4" descr="preencoded.png"/>
          <p:cNvPicPr>
            <a:picLocks noChangeAspect="1"/>
          </p:cNvPicPr>
          <p:nvPr/>
        </p:nvPicPr>
        <p:blipFill>
          <a:blip r:embed="rId7"/>
          <a:stretch>
            <a:fillRect/>
          </a:stretch>
        </p:blipFill>
        <p:spPr>
          <a:xfrm>
            <a:off x="10972800" y="609600"/>
            <a:ext cx="609600" cy="609600"/>
          </a:xfrm>
          <a:prstGeom prst="rect">
            <a:avLst/>
          </a:prstGeom>
        </p:spPr>
      </p:pic>
      <p:pic>
        <p:nvPicPr>
          <p:cNvPr id="7" name="Image 5" descr="preencoded.png"/>
          <p:cNvPicPr>
            <a:picLocks noChangeAspect="1"/>
          </p:cNvPicPr>
          <p:nvPr/>
        </p:nvPicPr>
        <p:blipFill>
          <a:blip r:embed="rId8"/>
          <a:stretch>
            <a:fillRect/>
          </a:stretch>
        </p:blipFill>
        <p:spPr>
          <a:xfrm>
            <a:off x="6705600" y="5181600"/>
            <a:ext cx="914400" cy="914400"/>
          </a:xfrm>
          <a:prstGeom prst="rect">
            <a:avLst/>
          </a:prstGeom>
        </p:spPr>
      </p:pic>
      <p:sp>
        <p:nvSpPr>
          <p:cNvPr id="8" name="Text 0"/>
          <p:cNvSpPr/>
          <p:nvPr/>
        </p:nvSpPr>
        <p:spPr>
          <a:xfrm>
            <a:off x="762000" y="2305050"/>
            <a:ext cx="3286125" cy="457200"/>
          </a:xfrm>
          <a:prstGeom prst="rect">
            <a:avLst/>
          </a:prstGeom>
          <a:noFill/>
          <a:ln/>
        </p:spPr>
        <p:txBody>
          <a:bodyPr vert="horz" wrap="square" lIns="0" tIns="0" rIns="0" bIns="0" rtlCol="0" anchor="t"/>
          <a:lstStyle/>
          <a:p>
            <a:pPr marL="0" indent="0">
              <a:lnSpc>
                <a:spcPts val="3600"/>
              </a:lnSpc>
              <a:buNone/>
            </a:pPr>
            <a:r>
              <a:rPr lang="en-US" sz="3600" b="1" dirty="0">
                <a:solidFill>
                  <a:srgbClr val="1F2937"/>
                </a:solidFill>
                <a:latin typeface="標楷體" panose="03000509000000000000" pitchFamily="65" charset="-120"/>
                <a:ea typeface="標楷體" panose="03000509000000000000" pitchFamily="65" charset="-120"/>
                <a:cs typeface="ui-sans-serif" pitchFamily="34" charset="-120"/>
              </a:rPr>
              <a:t>WearWise</a:t>
            </a:r>
            <a:endParaRPr lang="en-US" sz="3600" dirty="0">
              <a:latin typeface="標楷體" panose="03000509000000000000" pitchFamily="65" charset="-120"/>
              <a:ea typeface="標楷體" panose="03000509000000000000" pitchFamily="65" charset="-120"/>
            </a:endParaRPr>
          </a:p>
        </p:txBody>
      </p:sp>
      <p:sp>
        <p:nvSpPr>
          <p:cNvPr id="9" name="Text 1"/>
          <p:cNvSpPr/>
          <p:nvPr/>
        </p:nvSpPr>
        <p:spPr>
          <a:xfrm>
            <a:off x="762000" y="2914650"/>
            <a:ext cx="3286125" cy="381000"/>
          </a:xfrm>
          <a:prstGeom prst="rect">
            <a:avLst/>
          </a:prstGeom>
          <a:noFill/>
          <a:ln/>
        </p:spPr>
        <p:txBody>
          <a:bodyPr vert="horz" wrap="square" lIns="0" tIns="0" rIns="0" bIns="0" rtlCol="0" anchor="t"/>
          <a:lstStyle/>
          <a:p>
            <a:pPr marL="0" indent="0">
              <a:lnSpc>
                <a:spcPts val="3000"/>
              </a:lnSpc>
              <a:buNone/>
            </a:pPr>
            <a:r>
              <a:rPr lang="en-US" sz="2700" b="1" dirty="0">
                <a:solidFill>
                  <a:srgbClr val="1F2937"/>
                </a:solidFill>
                <a:latin typeface="標楷體" panose="03000509000000000000" pitchFamily="65" charset="-120"/>
                <a:ea typeface="標楷體" panose="03000509000000000000" pitchFamily="65" charset="-120"/>
                <a:cs typeface="ui-sans-serif" pitchFamily="34" charset="-120"/>
              </a:rPr>
              <a:t>穿搭智友</a:t>
            </a:r>
            <a:endParaRPr lang="en-US" sz="2700" dirty="0">
              <a:latin typeface="標楷體" panose="03000509000000000000" pitchFamily="65" charset="-120"/>
              <a:ea typeface="標楷體" panose="03000509000000000000" pitchFamily="65" charset="-120"/>
            </a:endParaRPr>
          </a:p>
        </p:txBody>
      </p:sp>
      <p:sp>
        <p:nvSpPr>
          <p:cNvPr id="10" name="Text 2"/>
          <p:cNvSpPr/>
          <p:nvPr/>
        </p:nvSpPr>
        <p:spPr>
          <a:xfrm>
            <a:off x="984739" y="4286250"/>
            <a:ext cx="3286125" cy="304800"/>
          </a:xfrm>
          <a:prstGeom prst="rect">
            <a:avLst/>
          </a:prstGeom>
          <a:noFill/>
          <a:ln/>
        </p:spPr>
        <p:txBody>
          <a:bodyPr vert="horz" wrap="square" lIns="0" tIns="0" rIns="0" bIns="0" rtlCol="0" anchor="t"/>
          <a:lstStyle/>
          <a:p>
            <a:pPr marL="0" indent="0">
              <a:lnSpc>
                <a:spcPts val="2400"/>
              </a:lnSpc>
              <a:buNone/>
            </a:pPr>
            <a:r>
              <a:rPr lang="en-US" sz="1800" dirty="0">
                <a:solidFill>
                  <a:srgbClr val="4B5563"/>
                </a:solidFill>
                <a:latin typeface="標楷體" panose="03000509000000000000" pitchFamily="65" charset="-120"/>
                <a:ea typeface="標楷體" panose="03000509000000000000" pitchFamily="65" charset="-120"/>
                <a:cs typeface="ui-sans-serif" pitchFamily="34" charset="-120"/>
              </a:rPr>
              <a:t>AI驅動的智慧穿搭解決方案</a:t>
            </a:r>
            <a:endParaRPr lang="en-US" sz="1800" dirty="0">
              <a:latin typeface="標楷體" panose="03000509000000000000" pitchFamily="65" charset="-120"/>
              <a:ea typeface="標楷體" panose="03000509000000000000" pitchFamily="65" charset="-12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2192000" cy="6858000"/>
          </a:xfrm>
          <a:prstGeom prst="rect">
            <a:avLst/>
          </a:prstGeom>
        </p:spPr>
      </p:pic>
      <p:pic>
        <p:nvPicPr>
          <p:cNvPr id="3" name="Image 1" descr="preencoded.png"/>
          <p:cNvPicPr>
            <a:picLocks noChangeAspect="1"/>
          </p:cNvPicPr>
          <p:nvPr/>
        </p:nvPicPr>
        <p:blipFill>
          <a:blip r:embed="rId4"/>
          <a:stretch>
            <a:fillRect/>
          </a:stretch>
        </p:blipFill>
        <p:spPr>
          <a:xfrm>
            <a:off x="0" y="0"/>
            <a:ext cx="12192000" cy="952500"/>
          </a:xfrm>
          <a:prstGeom prst="rect">
            <a:avLst/>
          </a:prstGeom>
        </p:spPr>
      </p:pic>
      <p:pic>
        <p:nvPicPr>
          <p:cNvPr id="4" name="Image 2" descr="preencoded.png"/>
          <p:cNvPicPr>
            <a:picLocks noChangeAspect="1"/>
          </p:cNvPicPr>
          <p:nvPr/>
        </p:nvPicPr>
        <p:blipFill>
          <a:blip r:embed="rId5"/>
          <a:stretch>
            <a:fillRect/>
          </a:stretch>
        </p:blipFill>
        <p:spPr>
          <a:xfrm>
            <a:off x="457200" y="2133600"/>
            <a:ext cx="3555950" cy="3314700"/>
          </a:xfrm>
          <a:prstGeom prst="rect">
            <a:avLst/>
          </a:prstGeom>
        </p:spPr>
      </p:pic>
      <p:pic>
        <p:nvPicPr>
          <p:cNvPr id="5" name="Image 3" descr="preencoded.png"/>
          <p:cNvPicPr>
            <a:picLocks noChangeAspect="1"/>
          </p:cNvPicPr>
          <p:nvPr/>
        </p:nvPicPr>
        <p:blipFill>
          <a:blip r:embed="rId6"/>
          <a:stretch>
            <a:fillRect/>
          </a:stretch>
        </p:blipFill>
        <p:spPr>
          <a:xfrm>
            <a:off x="1854101" y="2748608"/>
            <a:ext cx="762000" cy="762000"/>
          </a:xfrm>
          <a:prstGeom prst="rect">
            <a:avLst/>
          </a:prstGeom>
        </p:spPr>
      </p:pic>
      <p:pic>
        <p:nvPicPr>
          <p:cNvPr id="6" name="Image 4" descr="preencoded.png"/>
          <p:cNvPicPr>
            <a:picLocks noChangeAspect="1"/>
          </p:cNvPicPr>
          <p:nvPr/>
        </p:nvPicPr>
        <p:blipFill>
          <a:blip r:embed="rId7"/>
          <a:stretch>
            <a:fillRect/>
          </a:stretch>
        </p:blipFill>
        <p:spPr>
          <a:xfrm>
            <a:off x="2063651" y="2939108"/>
            <a:ext cx="342900" cy="381000"/>
          </a:xfrm>
          <a:prstGeom prst="rect">
            <a:avLst/>
          </a:prstGeom>
        </p:spPr>
      </p:pic>
      <p:pic>
        <p:nvPicPr>
          <p:cNvPr id="7" name="Image 5" descr="preencoded.png"/>
          <p:cNvPicPr>
            <a:picLocks noChangeAspect="1"/>
          </p:cNvPicPr>
          <p:nvPr/>
        </p:nvPicPr>
        <p:blipFill>
          <a:blip r:embed="rId8"/>
          <a:stretch>
            <a:fillRect/>
          </a:stretch>
        </p:blipFill>
        <p:spPr>
          <a:xfrm>
            <a:off x="4317950" y="2133600"/>
            <a:ext cx="3555950" cy="3314700"/>
          </a:xfrm>
          <a:prstGeom prst="rect">
            <a:avLst/>
          </a:prstGeom>
        </p:spPr>
      </p:pic>
      <p:pic>
        <p:nvPicPr>
          <p:cNvPr id="8" name="Image 6" descr="preencoded.png"/>
          <p:cNvPicPr>
            <a:picLocks noChangeAspect="1"/>
          </p:cNvPicPr>
          <p:nvPr/>
        </p:nvPicPr>
        <p:blipFill>
          <a:blip r:embed="rId9"/>
          <a:stretch>
            <a:fillRect/>
          </a:stretch>
        </p:blipFill>
        <p:spPr>
          <a:xfrm>
            <a:off x="5714926" y="2754507"/>
            <a:ext cx="762000" cy="762000"/>
          </a:xfrm>
          <a:prstGeom prst="rect">
            <a:avLst/>
          </a:prstGeom>
        </p:spPr>
      </p:pic>
      <p:pic>
        <p:nvPicPr>
          <p:cNvPr id="9" name="Image 7" descr="preencoded.png"/>
          <p:cNvPicPr>
            <a:picLocks noChangeAspect="1"/>
          </p:cNvPicPr>
          <p:nvPr/>
        </p:nvPicPr>
        <p:blipFill>
          <a:blip r:embed="rId10"/>
          <a:stretch>
            <a:fillRect/>
          </a:stretch>
        </p:blipFill>
        <p:spPr>
          <a:xfrm>
            <a:off x="5924476" y="2945007"/>
            <a:ext cx="342900" cy="381000"/>
          </a:xfrm>
          <a:prstGeom prst="rect">
            <a:avLst/>
          </a:prstGeom>
        </p:spPr>
      </p:pic>
      <p:pic>
        <p:nvPicPr>
          <p:cNvPr id="10" name="Image 8" descr="preencoded.png"/>
          <p:cNvPicPr>
            <a:picLocks noChangeAspect="1"/>
          </p:cNvPicPr>
          <p:nvPr/>
        </p:nvPicPr>
        <p:blipFill>
          <a:blip r:embed="rId11"/>
          <a:stretch>
            <a:fillRect/>
          </a:stretch>
        </p:blipFill>
        <p:spPr>
          <a:xfrm>
            <a:off x="8178701" y="2133600"/>
            <a:ext cx="3556099" cy="3314700"/>
          </a:xfrm>
          <a:prstGeom prst="rect">
            <a:avLst/>
          </a:prstGeom>
        </p:spPr>
      </p:pic>
      <p:pic>
        <p:nvPicPr>
          <p:cNvPr id="11" name="Image 9" descr="preencoded.png"/>
          <p:cNvPicPr>
            <a:picLocks noChangeAspect="1"/>
          </p:cNvPicPr>
          <p:nvPr/>
        </p:nvPicPr>
        <p:blipFill>
          <a:blip r:embed="rId12"/>
          <a:stretch>
            <a:fillRect/>
          </a:stretch>
        </p:blipFill>
        <p:spPr>
          <a:xfrm>
            <a:off x="9575750" y="2745658"/>
            <a:ext cx="762000" cy="762000"/>
          </a:xfrm>
          <a:prstGeom prst="rect">
            <a:avLst/>
          </a:prstGeom>
        </p:spPr>
      </p:pic>
      <p:pic>
        <p:nvPicPr>
          <p:cNvPr id="12" name="Image 10" descr="preencoded.png"/>
          <p:cNvPicPr>
            <a:picLocks noChangeAspect="1"/>
          </p:cNvPicPr>
          <p:nvPr/>
        </p:nvPicPr>
        <p:blipFill>
          <a:blip r:embed="rId13"/>
          <a:stretch>
            <a:fillRect/>
          </a:stretch>
        </p:blipFill>
        <p:spPr>
          <a:xfrm>
            <a:off x="9785300" y="2936158"/>
            <a:ext cx="342900" cy="381000"/>
          </a:xfrm>
          <a:prstGeom prst="rect">
            <a:avLst/>
          </a:prstGeom>
        </p:spPr>
      </p:pic>
      <p:sp>
        <p:nvSpPr>
          <p:cNvPr id="13" name="Text 0"/>
          <p:cNvSpPr/>
          <p:nvPr/>
        </p:nvSpPr>
        <p:spPr>
          <a:xfrm>
            <a:off x="609600" y="285750"/>
            <a:ext cx="2880360" cy="381000"/>
          </a:xfrm>
          <a:prstGeom prst="rect">
            <a:avLst/>
          </a:prstGeom>
          <a:noFill/>
          <a:ln/>
        </p:spPr>
        <p:txBody>
          <a:bodyPr vert="horz" wrap="square" lIns="0" tIns="0" rIns="0" bIns="0" rtlCol="0" anchor="t"/>
          <a:lstStyle/>
          <a:p>
            <a:pPr marL="0" indent="0">
              <a:lnSpc>
                <a:spcPts val="3000"/>
              </a:lnSpc>
              <a:buNone/>
            </a:pPr>
            <a:r>
              <a:rPr lang="en-US" sz="2700" b="1" dirty="0">
                <a:solidFill>
                  <a:srgbClr val="FFFFFF"/>
                </a:solidFill>
                <a:latin typeface="標楷體" panose="03000509000000000000" pitchFamily="65" charset="-120"/>
                <a:ea typeface="標楷體" panose="03000509000000000000" pitchFamily="65" charset="-120"/>
                <a:cs typeface="ui-sans-serif" pitchFamily="34" charset="-120"/>
              </a:rPr>
              <a:t>提案動機與目的</a:t>
            </a:r>
            <a:endParaRPr lang="en-US" sz="2700" dirty="0">
              <a:latin typeface="標楷體" panose="03000509000000000000" pitchFamily="65" charset="-120"/>
              <a:ea typeface="標楷體" panose="03000509000000000000" pitchFamily="65" charset="-120"/>
            </a:endParaRPr>
          </a:p>
        </p:txBody>
      </p:sp>
      <p:sp>
        <p:nvSpPr>
          <p:cNvPr id="14" name="Text 1"/>
          <p:cNvSpPr/>
          <p:nvPr/>
        </p:nvSpPr>
        <p:spPr>
          <a:xfrm>
            <a:off x="457200" y="1409700"/>
            <a:ext cx="13533120" cy="266700"/>
          </a:xfrm>
          <a:prstGeom prst="rect">
            <a:avLst/>
          </a:prstGeom>
          <a:noFill/>
          <a:ln/>
        </p:spPr>
        <p:txBody>
          <a:bodyPr vert="horz" wrap="square" lIns="0" tIns="0" rIns="0" bIns="0" rtlCol="0" anchor="t"/>
          <a:lstStyle/>
          <a:p>
            <a:pPr marL="0" indent="0">
              <a:lnSpc>
                <a:spcPts val="2100"/>
              </a:lnSpc>
              <a:buNone/>
            </a:pPr>
            <a:r>
              <a:rPr lang="en-US" sz="1500" dirty="0">
                <a:solidFill>
                  <a:srgbClr val="374151"/>
                </a:solidFill>
                <a:latin typeface="標楷體" panose="03000509000000000000" pitchFamily="65" charset="-120"/>
                <a:ea typeface="標楷體" panose="03000509000000000000" pitchFamily="65" charset="-120"/>
                <a:cs typeface="ui-sans-serif" pitchFamily="34" charset="-120"/>
              </a:rPr>
              <a:t>WearWise 穿搭智友基於三大核心動機，旨在成為每位使用者的個人化智慧衣櫥夥伴</a:t>
            </a:r>
            <a:endParaRPr lang="en-US" sz="1500" dirty="0">
              <a:latin typeface="標楷體" panose="03000509000000000000" pitchFamily="65" charset="-120"/>
              <a:ea typeface="標楷體" panose="03000509000000000000" pitchFamily="65" charset="-120"/>
            </a:endParaRPr>
          </a:p>
        </p:txBody>
      </p:sp>
      <p:sp>
        <p:nvSpPr>
          <p:cNvPr id="15" name="Text 2"/>
          <p:cNvSpPr/>
          <p:nvPr/>
        </p:nvSpPr>
        <p:spPr>
          <a:xfrm>
            <a:off x="1473101" y="3663008"/>
            <a:ext cx="1828800" cy="266700"/>
          </a:xfrm>
          <a:prstGeom prst="rect">
            <a:avLst/>
          </a:prstGeom>
          <a:noFill/>
          <a:ln/>
        </p:spPr>
        <p:txBody>
          <a:bodyPr vert="horz" wrap="square" lIns="0" tIns="0" rIns="0" bIns="0" rtlCol="0" anchor="t"/>
          <a:lstStyle/>
          <a:p>
            <a:pPr marL="0" indent="0">
              <a:lnSpc>
                <a:spcPts val="2100"/>
              </a:lnSpc>
              <a:buNone/>
            </a:pPr>
            <a:r>
              <a:rPr lang="en-US" sz="1500" b="1" dirty="0">
                <a:solidFill>
                  <a:srgbClr val="1F2937"/>
                </a:solidFill>
                <a:latin typeface="標楷體" panose="03000509000000000000" pitchFamily="65" charset="-120"/>
                <a:ea typeface="標楷體" panose="03000509000000000000" pitchFamily="65" charset="-120"/>
                <a:cs typeface="ui-sans-serif" pitchFamily="34" charset="-120"/>
              </a:rPr>
              <a:t>解決穿搭決策困境</a:t>
            </a:r>
            <a:endParaRPr lang="en-US" sz="1500" dirty="0">
              <a:latin typeface="標楷體" panose="03000509000000000000" pitchFamily="65" charset="-120"/>
              <a:ea typeface="標楷體" panose="03000509000000000000" pitchFamily="65" charset="-120"/>
            </a:endParaRPr>
          </a:p>
        </p:txBody>
      </p:sp>
      <p:sp>
        <p:nvSpPr>
          <p:cNvPr id="16" name="Text 3"/>
          <p:cNvSpPr/>
          <p:nvPr/>
        </p:nvSpPr>
        <p:spPr>
          <a:xfrm>
            <a:off x="685800" y="4044008"/>
            <a:ext cx="3098750" cy="457200"/>
          </a:xfrm>
          <a:prstGeom prst="rect">
            <a:avLst/>
          </a:prstGeom>
          <a:noFill/>
          <a:ln/>
        </p:spPr>
        <p:txBody>
          <a:bodyPr vert="horz" wrap="square" lIns="0" tIns="0" rIns="0" bIns="0" rtlCol="0" anchor="t"/>
          <a:lstStyle/>
          <a:p>
            <a:pPr marL="0" indent="0" algn="ctr">
              <a:lnSpc>
                <a:spcPts val="1800"/>
              </a:lnSpc>
              <a:buNone/>
            </a:pPr>
            <a:endParaRPr lang="en-US" sz="1200" dirty="0">
              <a:latin typeface="標楷體" panose="03000509000000000000" pitchFamily="65" charset="-120"/>
              <a:ea typeface="標楷體" panose="03000509000000000000" pitchFamily="65" charset="-120"/>
            </a:endParaRPr>
          </a:p>
        </p:txBody>
      </p:sp>
      <p:sp>
        <p:nvSpPr>
          <p:cNvPr id="17" name="Text 4"/>
          <p:cNvSpPr/>
          <p:nvPr/>
        </p:nvSpPr>
        <p:spPr>
          <a:xfrm>
            <a:off x="5429176" y="3668907"/>
            <a:ext cx="1600200" cy="266700"/>
          </a:xfrm>
          <a:prstGeom prst="rect">
            <a:avLst/>
          </a:prstGeom>
          <a:noFill/>
          <a:ln/>
        </p:spPr>
        <p:txBody>
          <a:bodyPr vert="horz" wrap="square" lIns="0" tIns="0" rIns="0" bIns="0" rtlCol="0" anchor="t"/>
          <a:lstStyle/>
          <a:p>
            <a:pPr marL="0" indent="0">
              <a:lnSpc>
                <a:spcPts val="2100"/>
              </a:lnSpc>
              <a:buNone/>
            </a:pPr>
            <a:r>
              <a:rPr lang="en-US" sz="1500" b="1" dirty="0">
                <a:solidFill>
                  <a:srgbClr val="1F2937"/>
                </a:solidFill>
                <a:latin typeface="標楷體" panose="03000509000000000000" pitchFamily="65" charset="-120"/>
                <a:ea typeface="標楷體" panose="03000509000000000000" pitchFamily="65" charset="-120"/>
                <a:cs typeface="ui-sans-serif" pitchFamily="34" charset="-120"/>
              </a:rPr>
              <a:t>提升衣物利用率</a:t>
            </a:r>
            <a:endParaRPr lang="en-US" sz="1500" dirty="0">
              <a:latin typeface="標楷體" panose="03000509000000000000" pitchFamily="65" charset="-120"/>
              <a:ea typeface="標楷體" panose="03000509000000000000" pitchFamily="65" charset="-120"/>
            </a:endParaRPr>
          </a:p>
        </p:txBody>
      </p:sp>
      <p:sp>
        <p:nvSpPr>
          <p:cNvPr id="18" name="Text 5"/>
          <p:cNvSpPr/>
          <p:nvPr/>
        </p:nvSpPr>
        <p:spPr>
          <a:xfrm>
            <a:off x="4546625" y="4049907"/>
            <a:ext cx="3098750" cy="457200"/>
          </a:xfrm>
          <a:prstGeom prst="rect">
            <a:avLst/>
          </a:prstGeom>
          <a:noFill/>
          <a:ln/>
        </p:spPr>
        <p:txBody>
          <a:bodyPr vert="horz" wrap="square" lIns="0" tIns="0" rIns="0" bIns="0" rtlCol="0" anchor="t"/>
          <a:lstStyle/>
          <a:p>
            <a:pPr marL="0" indent="0" algn="ctr">
              <a:lnSpc>
                <a:spcPts val="1800"/>
              </a:lnSpc>
              <a:buNone/>
            </a:pPr>
            <a:r>
              <a:rPr lang="zh-TW" altLang="en-US" sz="1200" dirty="0">
                <a:latin typeface="標楷體" panose="03000509000000000000" pitchFamily="65" charset="-120"/>
                <a:ea typeface="標楷體" panose="03000509000000000000" pitchFamily="65" charset="-120"/>
              </a:rPr>
              <a:t>應用資料建模與組合最佳化技術，執行膠囊衣櫥分析，量化現有衣物庫的搭配潛力空間。此舉旨在最大化單品使用頻率 </a:t>
            </a:r>
            <a:r>
              <a:rPr lang="en-US" altLang="zh-TW" sz="1200" dirty="0">
                <a:latin typeface="標楷體" panose="03000509000000000000" pitchFamily="65" charset="-120"/>
                <a:ea typeface="標楷體" panose="03000509000000000000" pitchFamily="65" charset="-120"/>
              </a:rPr>
              <a:t>(Utilization Rate)</a:t>
            </a:r>
            <a:r>
              <a:rPr lang="zh-TW" altLang="en-US" sz="1200" dirty="0">
                <a:latin typeface="標楷體" panose="03000509000000000000" pitchFamily="65" charset="-120"/>
                <a:ea typeface="標楷體" panose="03000509000000000000" pitchFamily="65" charset="-120"/>
              </a:rPr>
              <a:t>，並在環境科學層面體現資源永續的工程設計目標。</a:t>
            </a:r>
            <a:endParaRPr lang="en-US" sz="1200" dirty="0">
              <a:latin typeface="標楷體" panose="03000509000000000000" pitchFamily="65" charset="-120"/>
              <a:ea typeface="標楷體" panose="03000509000000000000" pitchFamily="65" charset="-120"/>
            </a:endParaRPr>
          </a:p>
        </p:txBody>
      </p:sp>
      <p:sp>
        <p:nvSpPr>
          <p:cNvPr id="19" name="Text 6"/>
          <p:cNvSpPr/>
          <p:nvPr/>
        </p:nvSpPr>
        <p:spPr>
          <a:xfrm>
            <a:off x="9099500" y="3660058"/>
            <a:ext cx="2057400" cy="266700"/>
          </a:xfrm>
          <a:prstGeom prst="rect">
            <a:avLst/>
          </a:prstGeom>
          <a:noFill/>
          <a:ln/>
        </p:spPr>
        <p:txBody>
          <a:bodyPr vert="horz" wrap="square" lIns="0" tIns="0" rIns="0" bIns="0" rtlCol="0" anchor="t"/>
          <a:lstStyle/>
          <a:p>
            <a:pPr marL="0" indent="0">
              <a:lnSpc>
                <a:spcPts val="2100"/>
              </a:lnSpc>
              <a:buNone/>
            </a:pPr>
            <a:r>
              <a:rPr lang="en-US" sz="1500" b="1" dirty="0">
                <a:solidFill>
                  <a:srgbClr val="1F2937"/>
                </a:solidFill>
                <a:latin typeface="標楷體" panose="03000509000000000000" pitchFamily="65" charset="-120"/>
                <a:ea typeface="標楷體" panose="03000509000000000000" pitchFamily="65" charset="-120"/>
                <a:cs typeface="ui-sans-serif" pitchFamily="34" charset="-120"/>
              </a:rPr>
              <a:t>打造個人化智慧衣櫥</a:t>
            </a:r>
            <a:endParaRPr lang="en-US" sz="1500" dirty="0">
              <a:latin typeface="標楷體" panose="03000509000000000000" pitchFamily="65" charset="-120"/>
              <a:ea typeface="標楷體" panose="03000509000000000000" pitchFamily="65" charset="-120"/>
            </a:endParaRPr>
          </a:p>
        </p:txBody>
      </p:sp>
      <p:sp>
        <p:nvSpPr>
          <p:cNvPr id="20" name="Text 7"/>
          <p:cNvSpPr/>
          <p:nvPr/>
        </p:nvSpPr>
        <p:spPr>
          <a:xfrm>
            <a:off x="8407301" y="4041058"/>
            <a:ext cx="3098899" cy="457200"/>
          </a:xfrm>
          <a:prstGeom prst="rect">
            <a:avLst/>
          </a:prstGeom>
          <a:noFill/>
          <a:ln/>
        </p:spPr>
        <p:txBody>
          <a:bodyPr vert="horz" wrap="square" lIns="0" tIns="0" rIns="0" bIns="0" rtlCol="0" anchor="t"/>
          <a:lstStyle/>
          <a:p>
            <a:pPr marL="0" indent="0" algn="ctr">
              <a:lnSpc>
                <a:spcPts val="1800"/>
              </a:lnSpc>
              <a:buNone/>
            </a:pPr>
            <a:r>
              <a:rPr lang="zh-TW" altLang="en-US" sz="1200" dirty="0">
                <a:solidFill>
                  <a:srgbClr val="4B5563"/>
                </a:solidFill>
                <a:latin typeface="標楷體" panose="03000509000000000000" pitchFamily="65" charset="-120"/>
                <a:ea typeface="標楷體" panose="03000509000000000000" pitchFamily="65" charset="-120"/>
                <a:cs typeface="ui-sans-serif" pitchFamily="34" charset="-120"/>
              </a:rPr>
              <a:t>建構基於人工智慧的適應性學習系統，使其具備資料模型進化能力。透過持續的使用者回饋學習 </a:t>
            </a:r>
            <a:r>
              <a:rPr lang="en-US" altLang="zh-TW" sz="1200" dirty="0">
                <a:solidFill>
                  <a:srgbClr val="4B5563"/>
                </a:solidFill>
                <a:latin typeface="標楷體" panose="03000509000000000000" pitchFamily="65" charset="-120"/>
                <a:ea typeface="標楷體" panose="03000509000000000000" pitchFamily="65" charset="-120"/>
                <a:cs typeface="ui-sans-serif" pitchFamily="34" charset="-120"/>
              </a:rPr>
              <a:t>(Reinforcement Learning) </a:t>
            </a:r>
            <a:r>
              <a:rPr lang="zh-TW" altLang="en-US" sz="1200" dirty="0">
                <a:solidFill>
                  <a:srgbClr val="4B5563"/>
                </a:solidFill>
                <a:latin typeface="標楷體" panose="03000509000000000000" pitchFamily="65" charset="-120"/>
                <a:ea typeface="標楷體" panose="03000509000000000000" pitchFamily="65" charset="-120"/>
                <a:cs typeface="ui-sans-serif" pitchFamily="34" charset="-120"/>
              </a:rPr>
              <a:t>迭代預測模型，並藉由可解釋 </a:t>
            </a:r>
            <a:r>
              <a:rPr lang="en-US" altLang="zh-TW" sz="1200" dirty="0">
                <a:solidFill>
                  <a:srgbClr val="4B5563"/>
                </a:solidFill>
                <a:latin typeface="標楷體" panose="03000509000000000000" pitchFamily="65" charset="-120"/>
                <a:ea typeface="標楷體" panose="03000509000000000000" pitchFamily="65" charset="-120"/>
                <a:cs typeface="ui-sans-serif" pitchFamily="34" charset="-120"/>
              </a:rPr>
              <a:t>AI (XAI) </a:t>
            </a:r>
            <a:r>
              <a:rPr lang="zh-TW" altLang="en-US" sz="1200" dirty="0">
                <a:solidFill>
                  <a:srgbClr val="4B5563"/>
                </a:solidFill>
                <a:latin typeface="標楷體" panose="03000509000000000000" pitchFamily="65" charset="-120"/>
                <a:ea typeface="標楷體" panose="03000509000000000000" pitchFamily="65" charset="-120"/>
                <a:cs typeface="ui-sans-serif" pitchFamily="34" charset="-120"/>
              </a:rPr>
              <a:t>機制，將系統的運算邏輯有效地轉譯為使用者可理解的內化知識。</a:t>
            </a:r>
            <a:endParaRPr lang="en-US" sz="1200" dirty="0">
              <a:latin typeface="標楷體" panose="03000509000000000000" pitchFamily="65" charset="-120"/>
              <a:ea typeface="標楷體" panose="03000509000000000000" pitchFamily="65" charset="-120"/>
            </a:endParaRPr>
          </a:p>
        </p:txBody>
      </p:sp>
      <p:sp>
        <p:nvSpPr>
          <p:cNvPr id="26" name="文字方塊 25">
            <a:extLst>
              <a:ext uri="{FF2B5EF4-FFF2-40B4-BE49-F238E27FC236}">
                <a16:creationId xmlns:a16="http://schemas.microsoft.com/office/drawing/2014/main" id="{3A2F4D10-AAC8-571A-33AD-8D40EE3CCA8B}"/>
              </a:ext>
            </a:extLst>
          </p:cNvPr>
          <p:cNvSpPr txBox="1"/>
          <p:nvPr/>
        </p:nvSpPr>
        <p:spPr>
          <a:xfrm>
            <a:off x="620731" y="4049907"/>
            <a:ext cx="3228740" cy="1015663"/>
          </a:xfrm>
          <a:prstGeom prst="rect">
            <a:avLst/>
          </a:prstGeom>
          <a:noFill/>
        </p:spPr>
        <p:txBody>
          <a:bodyPr wrap="square">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zh-TW" altLang="zh-TW" sz="1200" i="0" u="none" strike="noStrike" cap="none" normalizeH="0" baseline="0" dirty="0">
                <a:ln>
                  <a:noFill/>
                </a:ln>
                <a:solidFill>
                  <a:schemeClr val="tx1"/>
                </a:solidFill>
                <a:effectLst/>
                <a:latin typeface="標楷體" panose="03000509000000000000" pitchFamily="65" charset="-120"/>
                <a:ea typeface="標楷體" panose="03000509000000000000" pitchFamily="65" charset="-120"/>
              </a:rPr>
              <a:t>透過預測模型與最佳化演算法，將使用者決策時間</a:t>
            </a:r>
            <a:r>
              <a:rPr kumimoji="0" lang="zh-TW" altLang="en-US" sz="1200" i="0" u="none" strike="noStrike" cap="none" normalizeH="0" baseline="0" dirty="0">
                <a:ln>
                  <a:noFill/>
                </a:ln>
                <a:solidFill>
                  <a:schemeClr val="tx1"/>
                </a:solidFill>
                <a:effectLst/>
                <a:latin typeface="標楷體" panose="03000509000000000000" pitchFamily="65" charset="-120"/>
                <a:ea typeface="標楷體" panose="03000509000000000000" pitchFamily="65" charset="-120"/>
              </a:rPr>
              <a:t>縮減</a:t>
            </a:r>
            <a:r>
              <a:rPr kumimoji="0" lang="zh-TW" altLang="zh-TW" sz="1200" i="0" u="none" strike="noStrike" cap="none" normalizeH="0" baseline="0" dirty="0">
                <a:ln>
                  <a:noFill/>
                </a:ln>
                <a:solidFill>
                  <a:schemeClr val="tx1"/>
                </a:solidFill>
                <a:effectLst/>
                <a:latin typeface="標楷體" panose="03000509000000000000" pitchFamily="65" charset="-120"/>
                <a:ea typeface="標楷體" panose="03000509000000000000" pitchFamily="65" charset="-120"/>
              </a:rPr>
              <a:t>，實現時間資源的最大化效益。同時，利用統計分析最小化搭配錯誤率，並在生物力學和心理神經科學層面提升使用者感知舒適度。</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2192000" cy="6858000"/>
          </a:xfrm>
          <a:prstGeom prst="rect">
            <a:avLst/>
          </a:prstGeom>
        </p:spPr>
      </p:pic>
      <p:pic>
        <p:nvPicPr>
          <p:cNvPr id="3" name="Image 1" descr="preencoded.png"/>
          <p:cNvPicPr>
            <a:picLocks noChangeAspect="1"/>
          </p:cNvPicPr>
          <p:nvPr/>
        </p:nvPicPr>
        <p:blipFill>
          <a:blip r:embed="rId4"/>
          <a:stretch>
            <a:fillRect/>
          </a:stretch>
        </p:blipFill>
        <p:spPr>
          <a:xfrm>
            <a:off x="0" y="0"/>
            <a:ext cx="12192000" cy="952500"/>
          </a:xfrm>
          <a:prstGeom prst="rect">
            <a:avLst/>
          </a:prstGeom>
        </p:spPr>
      </p:pic>
      <p:pic>
        <p:nvPicPr>
          <p:cNvPr id="4" name="Image 2" descr="preencoded.png"/>
          <p:cNvPicPr>
            <a:picLocks noChangeAspect="1"/>
          </p:cNvPicPr>
          <p:nvPr/>
        </p:nvPicPr>
        <p:blipFill>
          <a:blip r:embed="rId5"/>
          <a:stretch>
            <a:fillRect/>
          </a:stretch>
        </p:blipFill>
        <p:spPr>
          <a:xfrm>
            <a:off x="457200" y="1981200"/>
            <a:ext cx="7213550" cy="952500"/>
          </a:xfrm>
          <a:prstGeom prst="rect">
            <a:avLst/>
          </a:prstGeom>
        </p:spPr>
      </p:pic>
      <p:pic>
        <p:nvPicPr>
          <p:cNvPr id="5" name="Image 3" descr="preencoded.png"/>
          <p:cNvPicPr>
            <a:picLocks noChangeAspect="1"/>
          </p:cNvPicPr>
          <p:nvPr/>
        </p:nvPicPr>
        <p:blipFill>
          <a:blip r:embed="rId6"/>
          <a:stretch>
            <a:fillRect/>
          </a:stretch>
        </p:blipFill>
        <p:spPr>
          <a:xfrm>
            <a:off x="647700" y="2171700"/>
            <a:ext cx="571500" cy="571500"/>
          </a:xfrm>
          <a:prstGeom prst="rect">
            <a:avLst/>
          </a:prstGeom>
        </p:spPr>
      </p:pic>
      <p:pic>
        <p:nvPicPr>
          <p:cNvPr id="6" name="Image 4" descr="preencoded.png"/>
          <p:cNvPicPr>
            <a:picLocks noChangeAspect="1"/>
          </p:cNvPicPr>
          <p:nvPr/>
        </p:nvPicPr>
        <p:blipFill>
          <a:blip r:embed="rId7"/>
          <a:stretch>
            <a:fillRect/>
          </a:stretch>
        </p:blipFill>
        <p:spPr>
          <a:xfrm>
            <a:off x="819150" y="2305050"/>
            <a:ext cx="228600" cy="304800"/>
          </a:xfrm>
          <a:prstGeom prst="rect">
            <a:avLst/>
          </a:prstGeom>
        </p:spPr>
      </p:pic>
      <p:pic>
        <p:nvPicPr>
          <p:cNvPr id="7" name="Image 5" descr="preencoded.png"/>
          <p:cNvPicPr>
            <a:picLocks noChangeAspect="1"/>
          </p:cNvPicPr>
          <p:nvPr/>
        </p:nvPicPr>
        <p:blipFill>
          <a:blip r:embed="rId8"/>
          <a:stretch>
            <a:fillRect/>
          </a:stretch>
        </p:blipFill>
        <p:spPr>
          <a:xfrm>
            <a:off x="457200" y="3162300"/>
            <a:ext cx="7213550" cy="1181100"/>
          </a:xfrm>
          <a:prstGeom prst="rect">
            <a:avLst/>
          </a:prstGeom>
        </p:spPr>
      </p:pic>
      <p:pic>
        <p:nvPicPr>
          <p:cNvPr id="8" name="Image 6" descr="preencoded.png"/>
          <p:cNvPicPr>
            <a:picLocks noChangeAspect="1"/>
          </p:cNvPicPr>
          <p:nvPr/>
        </p:nvPicPr>
        <p:blipFill>
          <a:blip r:embed="rId9"/>
          <a:stretch>
            <a:fillRect/>
          </a:stretch>
        </p:blipFill>
        <p:spPr>
          <a:xfrm>
            <a:off x="647700" y="3352800"/>
            <a:ext cx="571500" cy="571500"/>
          </a:xfrm>
          <a:prstGeom prst="rect">
            <a:avLst/>
          </a:prstGeom>
        </p:spPr>
      </p:pic>
      <p:pic>
        <p:nvPicPr>
          <p:cNvPr id="9" name="Image 7" descr="preencoded.png"/>
          <p:cNvPicPr>
            <a:picLocks noChangeAspect="1"/>
          </p:cNvPicPr>
          <p:nvPr/>
        </p:nvPicPr>
        <p:blipFill>
          <a:blip r:embed="rId10"/>
          <a:stretch>
            <a:fillRect/>
          </a:stretch>
        </p:blipFill>
        <p:spPr>
          <a:xfrm>
            <a:off x="819150" y="3486150"/>
            <a:ext cx="228600" cy="304800"/>
          </a:xfrm>
          <a:prstGeom prst="rect">
            <a:avLst/>
          </a:prstGeom>
        </p:spPr>
      </p:pic>
      <p:pic>
        <p:nvPicPr>
          <p:cNvPr id="10" name="Image 8" descr="preencoded.png"/>
          <p:cNvPicPr>
            <a:picLocks noChangeAspect="1"/>
          </p:cNvPicPr>
          <p:nvPr/>
        </p:nvPicPr>
        <p:blipFill>
          <a:blip r:embed="rId5"/>
          <a:stretch>
            <a:fillRect/>
          </a:stretch>
        </p:blipFill>
        <p:spPr>
          <a:xfrm>
            <a:off x="457200" y="4572000"/>
            <a:ext cx="7213550" cy="952500"/>
          </a:xfrm>
          <a:prstGeom prst="rect">
            <a:avLst/>
          </a:prstGeom>
        </p:spPr>
      </p:pic>
      <p:pic>
        <p:nvPicPr>
          <p:cNvPr id="11" name="Image 9" descr="preencoded.png"/>
          <p:cNvPicPr>
            <a:picLocks noChangeAspect="1"/>
          </p:cNvPicPr>
          <p:nvPr/>
        </p:nvPicPr>
        <p:blipFill>
          <a:blip r:embed="rId11"/>
          <a:stretch>
            <a:fillRect/>
          </a:stretch>
        </p:blipFill>
        <p:spPr>
          <a:xfrm>
            <a:off x="647700" y="4762500"/>
            <a:ext cx="571500" cy="571500"/>
          </a:xfrm>
          <a:prstGeom prst="rect">
            <a:avLst/>
          </a:prstGeom>
        </p:spPr>
      </p:pic>
      <p:pic>
        <p:nvPicPr>
          <p:cNvPr id="12" name="Image 10" descr="preencoded.png"/>
          <p:cNvPicPr>
            <a:picLocks noChangeAspect="1"/>
          </p:cNvPicPr>
          <p:nvPr/>
        </p:nvPicPr>
        <p:blipFill>
          <a:blip r:embed="rId12"/>
          <a:stretch>
            <a:fillRect/>
          </a:stretch>
        </p:blipFill>
        <p:spPr>
          <a:xfrm>
            <a:off x="833438" y="4895850"/>
            <a:ext cx="200025" cy="304800"/>
          </a:xfrm>
          <a:prstGeom prst="rect">
            <a:avLst/>
          </a:prstGeom>
        </p:spPr>
      </p:pic>
      <p:pic>
        <p:nvPicPr>
          <p:cNvPr id="13" name="Image 11" descr="preencoded.png"/>
          <p:cNvPicPr>
            <a:picLocks noChangeAspect="1"/>
          </p:cNvPicPr>
          <p:nvPr/>
        </p:nvPicPr>
        <p:blipFill>
          <a:blip r:embed="rId13"/>
          <a:stretch>
            <a:fillRect/>
          </a:stretch>
        </p:blipFill>
        <p:spPr>
          <a:xfrm>
            <a:off x="7975550" y="2155329"/>
            <a:ext cx="3759101" cy="2509242"/>
          </a:xfrm>
          <a:prstGeom prst="rect">
            <a:avLst/>
          </a:prstGeom>
        </p:spPr>
      </p:pic>
      <p:pic>
        <p:nvPicPr>
          <p:cNvPr id="14" name="Image 12" descr="preencoded.png"/>
          <p:cNvPicPr>
            <a:picLocks noChangeAspect="1"/>
          </p:cNvPicPr>
          <p:nvPr/>
        </p:nvPicPr>
        <p:blipFill>
          <a:blip r:embed="rId14"/>
          <a:stretch>
            <a:fillRect/>
          </a:stretch>
        </p:blipFill>
        <p:spPr>
          <a:xfrm>
            <a:off x="7975550" y="4893171"/>
            <a:ext cx="3759101" cy="762000"/>
          </a:xfrm>
          <a:prstGeom prst="rect">
            <a:avLst/>
          </a:prstGeom>
        </p:spPr>
      </p:pic>
      <p:sp>
        <p:nvSpPr>
          <p:cNvPr id="15" name="Text 0"/>
          <p:cNvSpPr/>
          <p:nvPr/>
        </p:nvSpPr>
        <p:spPr>
          <a:xfrm>
            <a:off x="609600" y="285750"/>
            <a:ext cx="1645920" cy="381000"/>
          </a:xfrm>
          <a:prstGeom prst="rect">
            <a:avLst/>
          </a:prstGeom>
          <a:noFill/>
          <a:ln/>
        </p:spPr>
        <p:txBody>
          <a:bodyPr vert="horz" wrap="square" lIns="0" tIns="0" rIns="0" bIns="0" rtlCol="0" anchor="t"/>
          <a:lstStyle/>
          <a:p>
            <a:pPr marL="0" indent="0">
              <a:lnSpc>
                <a:spcPts val="3000"/>
              </a:lnSpc>
              <a:buNone/>
            </a:pPr>
            <a:r>
              <a:rPr lang="en-US" sz="2700" b="1" dirty="0">
                <a:solidFill>
                  <a:srgbClr val="FFFFFF"/>
                </a:solidFill>
                <a:latin typeface="標楷體" panose="03000509000000000000" pitchFamily="65" charset="-120"/>
                <a:ea typeface="標楷體" panose="03000509000000000000" pitchFamily="65" charset="-120"/>
                <a:cs typeface="ui-sans-serif" pitchFamily="34" charset="-120"/>
              </a:rPr>
              <a:t>痛點分析</a:t>
            </a:r>
            <a:endParaRPr lang="en-US" sz="2700" dirty="0">
              <a:latin typeface="標楷體" panose="03000509000000000000" pitchFamily="65" charset="-120"/>
              <a:ea typeface="標楷體" panose="03000509000000000000" pitchFamily="65" charset="-120"/>
            </a:endParaRPr>
          </a:p>
        </p:txBody>
      </p:sp>
      <p:sp>
        <p:nvSpPr>
          <p:cNvPr id="16" name="Text 1"/>
          <p:cNvSpPr/>
          <p:nvPr/>
        </p:nvSpPr>
        <p:spPr>
          <a:xfrm>
            <a:off x="457200" y="1409700"/>
            <a:ext cx="8656260" cy="266700"/>
          </a:xfrm>
          <a:prstGeom prst="rect">
            <a:avLst/>
          </a:prstGeom>
          <a:noFill/>
          <a:ln/>
        </p:spPr>
        <p:txBody>
          <a:bodyPr vert="horz" wrap="square" lIns="0" tIns="0" rIns="0" bIns="0" rtlCol="0" anchor="t"/>
          <a:lstStyle/>
          <a:p>
            <a:pPr marL="0" indent="0">
              <a:lnSpc>
                <a:spcPts val="2100"/>
              </a:lnSpc>
              <a:buNone/>
            </a:pPr>
            <a:r>
              <a:rPr lang="en-US" sz="1500" dirty="0">
                <a:solidFill>
                  <a:srgbClr val="374151"/>
                </a:solidFill>
                <a:latin typeface="標楷體" panose="03000509000000000000" pitchFamily="65" charset="-120"/>
                <a:ea typeface="標楷體" panose="03000509000000000000" pitchFamily="65" charset="-120"/>
                <a:cs typeface="ui-sans-serif" pitchFamily="34" charset="-120"/>
              </a:rPr>
              <a:t>現代人在穿搭方面面臨多種挑戰，這些痛點影響著日常生活品質與時間管理</a:t>
            </a:r>
            <a:endParaRPr lang="en-US" sz="1500" dirty="0">
              <a:latin typeface="標楷體" panose="03000509000000000000" pitchFamily="65" charset="-120"/>
              <a:ea typeface="標楷體" panose="03000509000000000000" pitchFamily="65" charset="-120"/>
            </a:endParaRPr>
          </a:p>
        </p:txBody>
      </p:sp>
      <p:sp>
        <p:nvSpPr>
          <p:cNvPr id="17" name="Text 2"/>
          <p:cNvSpPr/>
          <p:nvPr/>
        </p:nvSpPr>
        <p:spPr>
          <a:xfrm>
            <a:off x="1409700" y="2171700"/>
            <a:ext cx="5874246" cy="266700"/>
          </a:xfrm>
          <a:prstGeom prst="rect">
            <a:avLst/>
          </a:prstGeom>
          <a:noFill/>
          <a:ln/>
        </p:spPr>
        <p:txBody>
          <a:bodyPr vert="horz" wrap="square" lIns="0" tIns="0" rIns="0" bIns="0" rtlCol="0" anchor="t"/>
          <a:lstStyle/>
          <a:p>
            <a:pPr marL="0" indent="0">
              <a:lnSpc>
                <a:spcPts val="2100"/>
              </a:lnSpc>
              <a:buNone/>
            </a:pPr>
            <a:r>
              <a:rPr lang="en-US" sz="1500" b="1" dirty="0">
                <a:solidFill>
                  <a:srgbClr val="1F2937"/>
                </a:solidFill>
                <a:latin typeface="標楷體" panose="03000509000000000000" pitchFamily="65" charset="-120"/>
                <a:ea typeface="標楷體" panose="03000509000000000000" pitchFamily="65" charset="-120"/>
                <a:cs typeface="ui-sans-serif" pitchFamily="34" charset="-120"/>
              </a:rPr>
              <a:t>每日穿搭焦慮浪費時間</a:t>
            </a:r>
            <a:endParaRPr lang="en-US" sz="1500" dirty="0">
              <a:latin typeface="標楷體" panose="03000509000000000000" pitchFamily="65" charset="-120"/>
              <a:ea typeface="標楷體" panose="03000509000000000000" pitchFamily="65" charset="-120"/>
            </a:endParaRPr>
          </a:p>
        </p:txBody>
      </p:sp>
      <p:sp>
        <p:nvSpPr>
          <p:cNvPr id="18" name="Text 3"/>
          <p:cNvSpPr/>
          <p:nvPr/>
        </p:nvSpPr>
        <p:spPr>
          <a:xfrm>
            <a:off x="1409700" y="2514600"/>
            <a:ext cx="7049095" cy="228600"/>
          </a:xfrm>
          <a:prstGeom prst="rect">
            <a:avLst/>
          </a:prstGeom>
          <a:noFill/>
          <a:ln/>
        </p:spPr>
        <p:txBody>
          <a:bodyPr vert="horz" wrap="square" lIns="0" tIns="0" rIns="0" bIns="0" rtlCol="0" anchor="t"/>
          <a:lstStyle/>
          <a:p>
            <a:pPr marL="0" indent="0">
              <a:lnSpc>
                <a:spcPts val="1800"/>
              </a:lnSpc>
              <a:buNone/>
            </a:pPr>
            <a:r>
              <a:rPr lang="en-US" sz="1200" dirty="0">
                <a:solidFill>
                  <a:srgbClr val="4B5563"/>
                </a:solidFill>
                <a:latin typeface="標楷體" panose="03000509000000000000" pitchFamily="65" charset="-120"/>
                <a:ea typeface="標楷體" panose="03000509000000000000" pitchFamily="65" charset="-120"/>
                <a:cs typeface="ui-sans-serif" pitchFamily="34" charset="-120"/>
              </a:rPr>
              <a:t>早晨寶貴的10至15分鐘常耗費在「今天該穿什麼」的猶豫不決中，影響心情與出門效率</a:t>
            </a:r>
            <a:endParaRPr lang="en-US" sz="1200" dirty="0">
              <a:latin typeface="標楷體" panose="03000509000000000000" pitchFamily="65" charset="-120"/>
              <a:ea typeface="標楷體" panose="03000509000000000000" pitchFamily="65" charset="-120"/>
            </a:endParaRPr>
          </a:p>
        </p:txBody>
      </p:sp>
      <p:sp>
        <p:nvSpPr>
          <p:cNvPr id="19" name="Text 4"/>
          <p:cNvSpPr/>
          <p:nvPr/>
        </p:nvSpPr>
        <p:spPr>
          <a:xfrm>
            <a:off x="1409700" y="3352800"/>
            <a:ext cx="6070550" cy="266700"/>
          </a:xfrm>
          <a:prstGeom prst="rect">
            <a:avLst/>
          </a:prstGeom>
          <a:noFill/>
          <a:ln/>
        </p:spPr>
        <p:txBody>
          <a:bodyPr vert="horz" wrap="square" lIns="0" tIns="0" rIns="0" bIns="0" rtlCol="0" anchor="t"/>
          <a:lstStyle/>
          <a:p>
            <a:pPr marL="0" indent="0">
              <a:lnSpc>
                <a:spcPts val="2100"/>
              </a:lnSpc>
              <a:buNone/>
            </a:pPr>
            <a:r>
              <a:rPr lang="en-US" sz="1500" b="1" dirty="0">
                <a:solidFill>
                  <a:srgbClr val="1F2937"/>
                </a:solidFill>
                <a:latin typeface="標楷體" panose="03000509000000000000" pitchFamily="65" charset="-120"/>
                <a:ea typeface="標楷體" panose="03000509000000000000" pitchFamily="65" charset="-120"/>
                <a:cs typeface="ui-sans-serif" pitchFamily="34" charset="-120"/>
              </a:rPr>
              <a:t>搭配失誤影響自信與舒適度</a:t>
            </a:r>
            <a:endParaRPr lang="en-US" sz="1500" dirty="0">
              <a:latin typeface="標楷體" panose="03000509000000000000" pitchFamily="65" charset="-120"/>
              <a:ea typeface="標楷體" panose="03000509000000000000" pitchFamily="65" charset="-120"/>
            </a:endParaRPr>
          </a:p>
        </p:txBody>
      </p:sp>
      <p:sp>
        <p:nvSpPr>
          <p:cNvPr id="20" name="Text 5"/>
          <p:cNvSpPr/>
          <p:nvPr/>
        </p:nvSpPr>
        <p:spPr>
          <a:xfrm>
            <a:off x="1409700" y="3695700"/>
            <a:ext cx="6070550" cy="457200"/>
          </a:xfrm>
          <a:prstGeom prst="rect">
            <a:avLst/>
          </a:prstGeom>
          <a:noFill/>
          <a:ln/>
        </p:spPr>
        <p:txBody>
          <a:bodyPr vert="horz" wrap="square" lIns="0" tIns="0" rIns="0" bIns="0" rtlCol="0" anchor="t"/>
          <a:lstStyle/>
          <a:p>
            <a:pPr marL="0" indent="0">
              <a:lnSpc>
                <a:spcPts val="1800"/>
              </a:lnSpc>
              <a:buNone/>
            </a:pPr>
            <a:r>
              <a:rPr lang="en-US" sz="1200" dirty="0">
                <a:solidFill>
                  <a:srgbClr val="4B5563"/>
                </a:solidFill>
                <a:latin typeface="標楷體" panose="03000509000000000000" pitchFamily="65" charset="-120"/>
                <a:ea typeface="標楷體" panose="03000509000000000000" pitchFamily="65" charset="-120"/>
                <a:cs typeface="ui-sans-serif" pitchFamily="34" charset="-120"/>
              </a:rPr>
              <a:t>天氣判斷失誤（穿錯厚薄）或場合理解偏差（風格不符）導致搭配失誤，影響一整天的自信心與舒適度</a:t>
            </a:r>
            <a:endParaRPr lang="en-US" sz="1200" dirty="0">
              <a:latin typeface="標楷體" panose="03000509000000000000" pitchFamily="65" charset="-120"/>
              <a:ea typeface="標楷體" panose="03000509000000000000" pitchFamily="65" charset="-120"/>
            </a:endParaRPr>
          </a:p>
        </p:txBody>
      </p:sp>
      <p:sp>
        <p:nvSpPr>
          <p:cNvPr id="21" name="Text 6"/>
          <p:cNvSpPr/>
          <p:nvPr/>
        </p:nvSpPr>
        <p:spPr>
          <a:xfrm>
            <a:off x="1409700" y="4762500"/>
            <a:ext cx="5029200" cy="266700"/>
          </a:xfrm>
          <a:prstGeom prst="rect">
            <a:avLst/>
          </a:prstGeom>
          <a:noFill/>
          <a:ln/>
        </p:spPr>
        <p:txBody>
          <a:bodyPr vert="horz" wrap="square" lIns="0" tIns="0" rIns="0" bIns="0" rtlCol="0" anchor="t"/>
          <a:lstStyle/>
          <a:p>
            <a:pPr marL="0" indent="0">
              <a:lnSpc>
                <a:spcPts val="2100"/>
              </a:lnSpc>
              <a:buNone/>
            </a:pPr>
            <a:r>
              <a:rPr lang="en-US" sz="1500" b="1" dirty="0">
                <a:solidFill>
                  <a:srgbClr val="1F2937"/>
                </a:solidFill>
                <a:latin typeface="標楷體" panose="03000509000000000000" pitchFamily="65" charset="-120"/>
                <a:ea typeface="標楷體" panose="03000509000000000000" pitchFamily="65" charset="-120"/>
                <a:cs typeface="ui-sans-serif" pitchFamily="34" charset="-120"/>
              </a:rPr>
              <a:t>衣櫥資源浪費與低效利用</a:t>
            </a:r>
            <a:endParaRPr lang="en-US" sz="1500" dirty="0">
              <a:latin typeface="標楷體" panose="03000509000000000000" pitchFamily="65" charset="-120"/>
              <a:ea typeface="標楷體" panose="03000509000000000000" pitchFamily="65" charset="-120"/>
            </a:endParaRPr>
          </a:p>
        </p:txBody>
      </p:sp>
      <p:sp>
        <p:nvSpPr>
          <p:cNvPr id="22" name="Text 7"/>
          <p:cNvSpPr/>
          <p:nvPr/>
        </p:nvSpPr>
        <p:spPr>
          <a:xfrm>
            <a:off x="1409700" y="5105400"/>
            <a:ext cx="6035040" cy="228600"/>
          </a:xfrm>
          <a:prstGeom prst="rect">
            <a:avLst/>
          </a:prstGeom>
          <a:noFill/>
          <a:ln/>
        </p:spPr>
        <p:txBody>
          <a:bodyPr vert="horz" wrap="square" lIns="0" tIns="0" rIns="0" bIns="0" rtlCol="0" anchor="t"/>
          <a:lstStyle/>
          <a:p>
            <a:pPr marL="0" indent="0">
              <a:lnSpc>
                <a:spcPts val="1800"/>
              </a:lnSpc>
              <a:buNone/>
            </a:pPr>
            <a:r>
              <a:rPr lang="en-US" sz="1200" dirty="0">
                <a:solidFill>
                  <a:srgbClr val="4B5563"/>
                </a:solidFill>
                <a:latin typeface="標楷體" panose="03000509000000000000" pitchFamily="65" charset="-120"/>
                <a:ea typeface="標楷體" panose="03000509000000000000" pitchFamily="65" charset="-120"/>
                <a:cs typeface="ui-sans-serif" pitchFamily="34" charset="-120"/>
              </a:rPr>
              <a:t>「衣櫥裡滿是衣服，卻總覺得沒衣服穿」的困擾，導致衝動購物與資源浪費</a:t>
            </a:r>
            <a:endParaRPr lang="en-US" sz="1200" dirty="0">
              <a:latin typeface="標楷體" panose="03000509000000000000" pitchFamily="65" charset="-120"/>
              <a:ea typeface="標楷體" panose="03000509000000000000" pitchFamily="65" charset="-120"/>
            </a:endParaRPr>
          </a:p>
        </p:txBody>
      </p:sp>
      <p:sp>
        <p:nvSpPr>
          <p:cNvPr id="23" name="Text 8"/>
          <p:cNvSpPr/>
          <p:nvPr/>
        </p:nvSpPr>
        <p:spPr>
          <a:xfrm>
            <a:off x="8127950" y="5045571"/>
            <a:ext cx="3454301" cy="457200"/>
          </a:xfrm>
          <a:prstGeom prst="rect">
            <a:avLst/>
          </a:prstGeom>
          <a:noFill/>
          <a:ln/>
        </p:spPr>
        <p:txBody>
          <a:bodyPr vert="horz" wrap="square" lIns="0" tIns="0" rIns="0" bIns="0" rtlCol="0" anchor="t"/>
          <a:lstStyle/>
          <a:p>
            <a:pPr marL="0" indent="0" algn="ctr">
              <a:lnSpc>
                <a:spcPts val="1800"/>
              </a:lnSpc>
              <a:buNone/>
            </a:pPr>
            <a:r>
              <a:rPr lang="en-US" sz="1200" i="1" dirty="0">
                <a:solidFill>
                  <a:srgbClr val="374151"/>
                </a:solidFill>
                <a:latin typeface="標楷體" panose="03000509000000000000" pitchFamily="65" charset="-120"/>
                <a:ea typeface="標楷體" panose="03000509000000000000" pitchFamily="65" charset="-120"/>
                <a:cs typeface="ui-sans-serif" pitchFamily="34" charset="-120"/>
              </a:rPr>
              <a:t>「每天該穿什麼」的選擇障礙，成為現代人生活中的常見痛點</a:t>
            </a:r>
            <a:endParaRPr lang="en-US" sz="1200" dirty="0">
              <a:latin typeface="標楷體" panose="03000509000000000000" pitchFamily="65" charset="-120"/>
              <a:ea typeface="標楷體" panose="03000509000000000000" pitchFamily="65" charset="-12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2192000" cy="6858000"/>
          </a:xfrm>
          <a:prstGeom prst="rect">
            <a:avLst/>
          </a:prstGeom>
        </p:spPr>
      </p:pic>
      <p:pic>
        <p:nvPicPr>
          <p:cNvPr id="3" name="Image 1" descr="preencoded.png"/>
          <p:cNvPicPr>
            <a:picLocks noChangeAspect="1"/>
          </p:cNvPicPr>
          <p:nvPr/>
        </p:nvPicPr>
        <p:blipFill>
          <a:blip r:embed="rId4"/>
          <a:stretch>
            <a:fillRect/>
          </a:stretch>
        </p:blipFill>
        <p:spPr>
          <a:xfrm>
            <a:off x="0" y="0"/>
            <a:ext cx="12192000" cy="952500"/>
          </a:xfrm>
          <a:prstGeom prst="rect">
            <a:avLst/>
          </a:prstGeom>
        </p:spPr>
      </p:pic>
      <p:pic>
        <p:nvPicPr>
          <p:cNvPr id="4" name="Image 2" descr="preencoded.png"/>
          <p:cNvPicPr>
            <a:picLocks noChangeAspect="1"/>
          </p:cNvPicPr>
          <p:nvPr/>
        </p:nvPicPr>
        <p:blipFill>
          <a:blip r:embed="rId5"/>
          <a:stretch>
            <a:fillRect/>
          </a:stretch>
        </p:blipFill>
        <p:spPr>
          <a:xfrm>
            <a:off x="457200" y="2133600"/>
            <a:ext cx="4698950" cy="2667000"/>
          </a:xfrm>
          <a:prstGeom prst="rect">
            <a:avLst/>
          </a:prstGeom>
        </p:spPr>
      </p:pic>
      <p:pic>
        <p:nvPicPr>
          <p:cNvPr id="5" name="Image 3" descr="preencoded.png"/>
          <p:cNvPicPr>
            <a:picLocks noChangeAspect="1"/>
          </p:cNvPicPr>
          <p:nvPr/>
        </p:nvPicPr>
        <p:blipFill>
          <a:blip r:embed="rId6"/>
          <a:stretch>
            <a:fillRect/>
          </a:stretch>
        </p:blipFill>
        <p:spPr>
          <a:xfrm>
            <a:off x="685800" y="2362200"/>
            <a:ext cx="571500" cy="571500"/>
          </a:xfrm>
          <a:prstGeom prst="rect">
            <a:avLst/>
          </a:prstGeom>
        </p:spPr>
      </p:pic>
      <p:pic>
        <p:nvPicPr>
          <p:cNvPr id="6" name="Image 4" descr="preencoded.png"/>
          <p:cNvPicPr>
            <a:picLocks noChangeAspect="1"/>
          </p:cNvPicPr>
          <p:nvPr/>
        </p:nvPicPr>
        <p:blipFill>
          <a:blip r:embed="rId7"/>
          <a:stretch>
            <a:fillRect/>
          </a:stretch>
        </p:blipFill>
        <p:spPr>
          <a:xfrm>
            <a:off x="862013" y="2476500"/>
            <a:ext cx="219075" cy="342900"/>
          </a:xfrm>
          <a:prstGeom prst="rect">
            <a:avLst/>
          </a:prstGeom>
        </p:spPr>
      </p:pic>
      <p:pic>
        <p:nvPicPr>
          <p:cNvPr id="7" name="Image 5" descr="preencoded.png"/>
          <p:cNvPicPr>
            <a:picLocks noChangeAspect="1"/>
          </p:cNvPicPr>
          <p:nvPr/>
        </p:nvPicPr>
        <p:blipFill>
          <a:blip r:embed="rId8"/>
          <a:stretch>
            <a:fillRect/>
          </a:stretch>
        </p:blipFill>
        <p:spPr>
          <a:xfrm>
            <a:off x="838200" y="3124200"/>
            <a:ext cx="152400" cy="152400"/>
          </a:xfrm>
          <a:prstGeom prst="rect">
            <a:avLst/>
          </a:prstGeom>
        </p:spPr>
      </p:pic>
      <p:pic>
        <p:nvPicPr>
          <p:cNvPr id="8" name="Image 6" descr="preencoded.png"/>
          <p:cNvPicPr>
            <a:picLocks noChangeAspect="1"/>
          </p:cNvPicPr>
          <p:nvPr/>
        </p:nvPicPr>
        <p:blipFill>
          <a:blip r:embed="rId8"/>
          <a:stretch>
            <a:fillRect/>
          </a:stretch>
        </p:blipFill>
        <p:spPr>
          <a:xfrm>
            <a:off x="838200" y="3695700"/>
            <a:ext cx="152400" cy="152400"/>
          </a:xfrm>
          <a:prstGeom prst="rect">
            <a:avLst/>
          </a:prstGeom>
        </p:spPr>
      </p:pic>
      <p:pic>
        <p:nvPicPr>
          <p:cNvPr id="9" name="Image 7" descr="preencoded.png"/>
          <p:cNvPicPr>
            <a:picLocks noChangeAspect="1"/>
          </p:cNvPicPr>
          <p:nvPr/>
        </p:nvPicPr>
        <p:blipFill>
          <a:blip r:embed="rId8"/>
          <a:stretch>
            <a:fillRect/>
          </a:stretch>
        </p:blipFill>
        <p:spPr>
          <a:xfrm>
            <a:off x="838200" y="4038600"/>
            <a:ext cx="152400" cy="152400"/>
          </a:xfrm>
          <a:prstGeom prst="rect">
            <a:avLst/>
          </a:prstGeom>
        </p:spPr>
      </p:pic>
      <p:pic>
        <p:nvPicPr>
          <p:cNvPr id="10" name="Image 8" descr="preencoded.png"/>
          <p:cNvPicPr>
            <a:picLocks noChangeAspect="1"/>
          </p:cNvPicPr>
          <p:nvPr/>
        </p:nvPicPr>
        <p:blipFill>
          <a:blip r:embed="rId8"/>
          <a:stretch>
            <a:fillRect/>
          </a:stretch>
        </p:blipFill>
        <p:spPr>
          <a:xfrm>
            <a:off x="838200" y="4381500"/>
            <a:ext cx="152400" cy="152400"/>
          </a:xfrm>
          <a:prstGeom prst="rect">
            <a:avLst/>
          </a:prstGeom>
        </p:spPr>
      </p:pic>
      <p:pic>
        <p:nvPicPr>
          <p:cNvPr id="11" name="Image 9" descr="preencoded.png"/>
          <p:cNvPicPr>
            <a:picLocks noChangeAspect="1"/>
          </p:cNvPicPr>
          <p:nvPr/>
        </p:nvPicPr>
        <p:blipFill>
          <a:blip r:embed="rId9"/>
          <a:stretch>
            <a:fillRect/>
          </a:stretch>
        </p:blipFill>
        <p:spPr>
          <a:xfrm>
            <a:off x="5143500" y="3448050"/>
            <a:ext cx="1905000" cy="38100"/>
          </a:xfrm>
          <a:prstGeom prst="rect">
            <a:avLst/>
          </a:prstGeom>
        </p:spPr>
      </p:pic>
      <p:pic>
        <p:nvPicPr>
          <p:cNvPr id="14" name="Image 12" descr="preencoded.png"/>
          <p:cNvPicPr>
            <a:picLocks noChangeAspect="1"/>
          </p:cNvPicPr>
          <p:nvPr/>
        </p:nvPicPr>
        <p:blipFill>
          <a:blip r:embed="rId10"/>
          <a:stretch>
            <a:fillRect/>
          </a:stretch>
        </p:blipFill>
        <p:spPr>
          <a:xfrm>
            <a:off x="7035850" y="2247900"/>
            <a:ext cx="4698950" cy="2438400"/>
          </a:xfrm>
          <a:prstGeom prst="rect">
            <a:avLst/>
          </a:prstGeom>
        </p:spPr>
      </p:pic>
      <p:pic>
        <p:nvPicPr>
          <p:cNvPr id="15" name="Image 13" descr="preencoded.png"/>
          <p:cNvPicPr>
            <a:picLocks noChangeAspect="1"/>
          </p:cNvPicPr>
          <p:nvPr/>
        </p:nvPicPr>
        <p:blipFill>
          <a:blip r:embed="rId11"/>
          <a:stretch>
            <a:fillRect/>
          </a:stretch>
        </p:blipFill>
        <p:spPr>
          <a:xfrm>
            <a:off x="7264450" y="2476500"/>
            <a:ext cx="571500" cy="571500"/>
          </a:xfrm>
          <a:prstGeom prst="rect">
            <a:avLst/>
          </a:prstGeom>
        </p:spPr>
      </p:pic>
      <p:pic>
        <p:nvPicPr>
          <p:cNvPr id="16" name="Image 14" descr="preencoded.png"/>
          <p:cNvPicPr>
            <a:picLocks noChangeAspect="1"/>
          </p:cNvPicPr>
          <p:nvPr/>
        </p:nvPicPr>
        <p:blipFill>
          <a:blip r:embed="rId12"/>
          <a:stretch>
            <a:fillRect/>
          </a:stretch>
        </p:blipFill>
        <p:spPr>
          <a:xfrm>
            <a:off x="7369225" y="2590800"/>
            <a:ext cx="361950" cy="342900"/>
          </a:xfrm>
          <a:prstGeom prst="rect">
            <a:avLst/>
          </a:prstGeom>
        </p:spPr>
      </p:pic>
      <p:pic>
        <p:nvPicPr>
          <p:cNvPr id="17" name="Image 15" descr="preencoded.png"/>
          <p:cNvPicPr>
            <a:picLocks noChangeAspect="1"/>
          </p:cNvPicPr>
          <p:nvPr/>
        </p:nvPicPr>
        <p:blipFill>
          <a:blip r:embed="rId13"/>
          <a:stretch>
            <a:fillRect/>
          </a:stretch>
        </p:blipFill>
        <p:spPr>
          <a:xfrm>
            <a:off x="7416850" y="3238500"/>
            <a:ext cx="152400" cy="152400"/>
          </a:xfrm>
          <a:prstGeom prst="rect">
            <a:avLst/>
          </a:prstGeom>
        </p:spPr>
      </p:pic>
      <p:pic>
        <p:nvPicPr>
          <p:cNvPr id="18" name="Image 16" descr="preencoded.png"/>
          <p:cNvPicPr>
            <a:picLocks noChangeAspect="1"/>
          </p:cNvPicPr>
          <p:nvPr/>
        </p:nvPicPr>
        <p:blipFill>
          <a:blip r:embed="rId13"/>
          <a:stretch>
            <a:fillRect/>
          </a:stretch>
        </p:blipFill>
        <p:spPr>
          <a:xfrm>
            <a:off x="7416850" y="3581400"/>
            <a:ext cx="152400" cy="152400"/>
          </a:xfrm>
          <a:prstGeom prst="rect">
            <a:avLst/>
          </a:prstGeom>
        </p:spPr>
      </p:pic>
      <p:pic>
        <p:nvPicPr>
          <p:cNvPr id="19" name="Image 17" descr="preencoded.png"/>
          <p:cNvPicPr>
            <a:picLocks noChangeAspect="1"/>
          </p:cNvPicPr>
          <p:nvPr/>
        </p:nvPicPr>
        <p:blipFill>
          <a:blip r:embed="rId13"/>
          <a:stretch>
            <a:fillRect/>
          </a:stretch>
        </p:blipFill>
        <p:spPr>
          <a:xfrm>
            <a:off x="7416850" y="3924300"/>
            <a:ext cx="152400" cy="152400"/>
          </a:xfrm>
          <a:prstGeom prst="rect">
            <a:avLst/>
          </a:prstGeom>
        </p:spPr>
      </p:pic>
      <p:pic>
        <p:nvPicPr>
          <p:cNvPr id="20" name="Image 18" descr="preencoded.png"/>
          <p:cNvPicPr>
            <a:picLocks noChangeAspect="1"/>
          </p:cNvPicPr>
          <p:nvPr/>
        </p:nvPicPr>
        <p:blipFill>
          <a:blip r:embed="rId13"/>
          <a:stretch>
            <a:fillRect/>
          </a:stretch>
        </p:blipFill>
        <p:spPr>
          <a:xfrm>
            <a:off x="7416850" y="4267200"/>
            <a:ext cx="152400" cy="152400"/>
          </a:xfrm>
          <a:prstGeom prst="rect">
            <a:avLst/>
          </a:prstGeom>
        </p:spPr>
      </p:pic>
      <p:pic>
        <p:nvPicPr>
          <p:cNvPr id="21" name="Image 19" descr="preencoded.png"/>
          <p:cNvPicPr>
            <a:picLocks noChangeAspect="1"/>
          </p:cNvPicPr>
          <p:nvPr/>
        </p:nvPicPr>
        <p:blipFill>
          <a:blip r:embed="rId14"/>
          <a:stretch>
            <a:fillRect/>
          </a:stretch>
        </p:blipFill>
        <p:spPr>
          <a:xfrm>
            <a:off x="457200" y="5181600"/>
            <a:ext cx="11277600" cy="952500"/>
          </a:xfrm>
          <a:prstGeom prst="rect">
            <a:avLst/>
          </a:prstGeom>
        </p:spPr>
      </p:pic>
      <p:pic>
        <p:nvPicPr>
          <p:cNvPr id="22" name="Image 20" descr="preencoded.png"/>
          <p:cNvPicPr>
            <a:picLocks noChangeAspect="1"/>
          </p:cNvPicPr>
          <p:nvPr/>
        </p:nvPicPr>
        <p:blipFill>
          <a:blip r:embed="rId15"/>
          <a:stretch>
            <a:fillRect/>
          </a:stretch>
        </p:blipFill>
        <p:spPr>
          <a:xfrm>
            <a:off x="609600" y="5676900"/>
            <a:ext cx="171450" cy="304800"/>
          </a:xfrm>
          <a:prstGeom prst="rect">
            <a:avLst/>
          </a:prstGeom>
        </p:spPr>
      </p:pic>
      <p:pic>
        <p:nvPicPr>
          <p:cNvPr id="23" name="Image 21" descr="preencoded.png"/>
          <p:cNvPicPr>
            <a:picLocks noChangeAspect="1"/>
          </p:cNvPicPr>
          <p:nvPr/>
        </p:nvPicPr>
        <p:blipFill>
          <a:blip r:embed="rId16"/>
          <a:stretch>
            <a:fillRect/>
          </a:stretch>
        </p:blipFill>
        <p:spPr>
          <a:xfrm>
            <a:off x="4981575" y="5676900"/>
            <a:ext cx="228600" cy="304800"/>
          </a:xfrm>
          <a:prstGeom prst="rect">
            <a:avLst/>
          </a:prstGeom>
        </p:spPr>
      </p:pic>
      <p:pic>
        <p:nvPicPr>
          <p:cNvPr id="24" name="Image 22" descr="preencoded.png"/>
          <p:cNvPicPr>
            <a:picLocks noChangeAspect="1"/>
          </p:cNvPicPr>
          <p:nvPr/>
        </p:nvPicPr>
        <p:blipFill>
          <a:blip r:embed="rId17"/>
          <a:stretch>
            <a:fillRect/>
          </a:stretch>
        </p:blipFill>
        <p:spPr>
          <a:xfrm>
            <a:off x="9563100" y="5676900"/>
            <a:ext cx="228600" cy="304800"/>
          </a:xfrm>
          <a:prstGeom prst="rect">
            <a:avLst/>
          </a:prstGeom>
        </p:spPr>
      </p:pic>
      <p:sp>
        <p:nvSpPr>
          <p:cNvPr id="25" name="Text 0"/>
          <p:cNvSpPr/>
          <p:nvPr/>
        </p:nvSpPr>
        <p:spPr>
          <a:xfrm>
            <a:off x="609600" y="285750"/>
            <a:ext cx="4174986" cy="381000"/>
          </a:xfrm>
          <a:prstGeom prst="rect">
            <a:avLst/>
          </a:prstGeom>
          <a:noFill/>
          <a:ln/>
        </p:spPr>
        <p:txBody>
          <a:bodyPr vert="horz" wrap="square" lIns="0" tIns="0" rIns="0" bIns="0" rtlCol="0" anchor="t"/>
          <a:lstStyle/>
          <a:p>
            <a:pPr marL="0" indent="0">
              <a:lnSpc>
                <a:spcPts val="3000"/>
              </a:lnSpc>
              <a:buNone/>
            </a:pPr>
            <a:r>
              <a:rPr lang="en-US" sz="2700" b="1" dirty="0">
                <a:solidFill>
                  <a:srgbClr val="FFFFFF"/>
                </a:solidFill>
                <a:latin typeface="標楷體" panose="03000509000000000000" pitchFamily="65" charset="-120"/>
                <a:ea typeface="標楷體" panose="03000509000000000000" pitchFamily="65" charset="-120"/>
                <a:cs typeface="ui-sans-serif" pitchFamily="34" charset="-120"/>
              </a:rPr>
              <a:t>執行方向：雙層AI架構</a:t>
            </a:r>
            <a:endParaRPr lang="en-US" sz="2700" dirty="0">
              <a:latin typeface="標楷體" panose="03000509000000000000" pitchFamily="65" charset="-120"/>
              <a:ea typeface="標楷體" panose="03000509000000000000" pitchFamily="65" charset="-120"/>
            </a:endParaRPr>
          </a:p>
        </p:txBody>
      </p:sp>
      <p:sp>
        <p:nvSpPr>
          <p:cNvPr id="26" name="Text 1"/>
          <p:cNvSpPr/>
          <p:nvPr/>
        </p:nvSpPr>
        <p:spPr>
          <a:xfrm>
            <a:off x="457200" y="1409700"/>
            <a:ext cx="13533120" cy="266700"/>
          </a:xfrm>
          <a:prstGeom prst="rect">
            <a:avLst/>
          </a:prstGeom>
          <a:noFill/>
          <a:ln/>
        </p:spPr>
        <p:txBody>
          <a:bodyPr vert="horz" wrap="square" lIns="0" tIns="0" rIns="0" bIns="0" rtlCol="0" anchor="t"/>
          <a:lstStyle/>
          <a:p>
            <a:pPr marL="0" indent="0">
              <a:lnSpc>
                <a:spcPts val="2100"/>
              </a:lnSpc>
              <a:buNone/>
            </a:pPr>
            <a:r>
              <a:rPr lang="en-US" sz="1500" dirty="0">
                <a:solidFill>
                  <a:srgbClr val="374151"/>
                </a:solidFill>
                <a:latin typeface="標楷體" panose="03000509000000000000" pitchFamily="65" charset="-120"/>
                <a:ea typeface="標楷體" panose="03000509000000000000" pitchFamily="65" charset="-120"/>
                <a:cs typeface="ui-sans-serif" pitchFamily="34" charset="-120"/>
              </a:rPr>
              <a:t>WearWise 採用創新的「端－雲」協同AI架構，兼顧效率、隱私與智慧化分析</a:t>
            </a:r>
            <a:endParaRPr lang="en-US" sz="1500" dirty="0">
              <a:latin typeface="標楷體" panose="03000509000000000000" pitchFamily="65" charset="-120"/>
              <a:ea typeface="標楷體" panose="03000509000000000000" pitchFamily="65" charset="-120"/>
            </a:endParaRPr>
          </a:p>
        </p:txBody>
      </p:sp>
      <p:sp>
        <p:nvSpPr>
          <p:cNvPr id="27" name="Text 2"/>
          <p:cNvSpPr/>
          <p:nvPr/>
        </p:nvSpPr>
        <p:spPr>
          <a:xfrm>
            <a:off x="1409700" y="2495550"/>
            <a:ext cx="1411784" cy="304800"/>
          </a:xfrm>
          <a:prstGeom prst="rect">
            <a:avLst/>
          </a:prstGeom>
          <a:noFill/>
          <a:ln/>
        </p:spPr>
        <p:txBody>
          <a:bodyPr vert="horz" wrap="square" lIns="0" tIns="0" rIns="0" bIns="0" rtlCol="0" anchor="t"/>
          <a:lstStyle/>
          <a:p>
            <a:pPr marL="0" indent="0">
              <a:lnSpc>
                <a:spcPts val="2400"/>
              </a:lnSpc>
              <a:buNone/>
            </a:pPr>
            <a:r>
              <a:rPr lang="en-US" sz="1800" b="1" dirty="0">
                <a:solidFill>
                  <a:srgbClr val="1F2937"/>
                </a:solidFill>
                <a:latin typeface="標楷體" panose="03000509000000000000" pitchFamily="65" charset="-120"/>
                <a:ea typeface="標楷體" panose="03000509000000000000" pitchFamily="65" charset="-120"/>
                <a:cs typeface="ui-sans-serif" pitchFamily="34" charset="-120"/>
              </a:rPr>
              <a:t>端側AI模型</a:t>
            </a:r>
            <a:endParaRPr lang="en-US" sz="1800" dirty="0">
              <a:latin typeface="標楷體" panose="03000509000000000000" pitchFamily="65" charset="-120"/>
              <a:ea typeface="標楷體" panose="03000509000000000000" pitchFamily="65" charset="-120"/>
            </a:endParaRPr>
          </a:p>
        </p:txBody>
      </p:sp>
      <p:sp>
        <p:nvSpPr>
          <p:cNvPr id="28" name="Text 3"/>
          <p:cNvSpPr/>
          <p:nvPr/>
        </p:nvSpPr>
        <p:spPr>
          <a:xfrm>
            <a:off x="1066800" y="3086100"/>
            <a:ext cx="3860750" cy="457200"/>
          </a:xfrm>
          <a:prstGeom prst="rect">
            <a:avLst/>
          </a:prstGeom>
          <a:noFill/>
          <a:ln/>
        </p:spPr>
        <p:txBody>
          <a:bodyPr vert="horz" wrap="square" lIns="0" tIns="0" rIns="0" bIns="0" rtlCol="0" anchor="t"/>
          <a:lstStyle/>
          <a:p>
            <a:pPr marL="0" indent="0" algn="l">
              <a:lnSpc>
                <a:spcPts val="1800"/>
              </a:lnSpc>
              <a:buNone/>
            </a:pPr>
            <a:r>
              <a:rPr lang="en-US" sz="1200" dirty="0">
                <a:solidFill>
                  <a:srgbClr val="4B5563"/>
                </a:solidFill>
                <a:latin typeface="標楷體" panose="03000509000000000000" pitchFamily="65" charset="-120"/>
                <a:ea typeface="標楷體" panose="03000509000000000000" pitchFamily="65" charset="-120"/>
                <a:cs typeface="ui-sans-serif" pitchFamily="34" charset="-120"/>
              </a:rPr>
              <a:t>基於Google Teachable Machine訓練的輕量級影像辨識模型</a:t>
            </a:r>
            <a:endParaRPr lang="en-US" sz="1200" dirty="0">
              <a:latin typeface="標楷體" panose="03000509000000000000" pitchFamily="65" charset="-120"/>
              <a:ea typeface="標楷體" panose="03000509000000000000" pitchFamily="65" charset="-120"/>
            </a:endParaRPr>
          </a:p>
        </p:txBody>
      </p:sp>
      <p:sp>
        <p:nvSpPr>
          <p:cNvPr id="29" name="Text 4"/>
          <p:cNvSpPr/>
          <p:nvPr/>
        </p:nvSpPr>
        <p:spPr>
          <a:xfrm>
            <a:off x="1066800" y="3657600"/>
            <a:ext cx="3108960" cy="228600"/>
          </a:xfrm>
          <a:prstGeom prst="rect">
            <a:avLst/>
          </a:prstGeom>
          <a:noFill/>
          <a:ln/>
        </p:spPr>
        <p:txBody>
          <a:bodyPr vert="horz" wrap="square" lIns="0" tIns="0" rIns="0" bIns="0" rtlCol="0" anchor="t"/>
          <a:lstStyle/>
          <a:p>
            <a:pPr marL="0" indent="0" algn="l">
              <a:lnSpc>
                <a:spcPts val="1800"/>
              </a:lnSpc>
              <a:buNone/>
            </a:pPr>
            <a:r>
              <a:rPr lang="en-US" sz="1200" dirty="0">
                <a:solidFill>
                  <a:srgbClr val="4B5563"/>
                </a:solidFill>
                <a:latin typeface="標楷體" panose="03000509000000000000" pitchFamily="65" charset="-120"/>
                <a:ea typeface="標楷體" panose="03000509000000000000" pitchFamily="65" charset="-120"/>
                <a:cs typeface="ui-sans-serif" pitchFamily="34" charset="-120"/>
              </a:rPr>
              <a:t>進行即時、離線的初步分類與顏色識別</a:t>
            </a:r>
            <a:endParaRPr lang="en-US" sz="1200" dirty="0">
              <a:latin typeface="標楷體" panose="03000509000000000000" pitchFamily="65" charset="-120"/>
              <a:ea typeface="標楷體" panose="03000509000000000000" pitchFamily="65" charset="-120"/>
            </a:endParaRPr>
          </a:p>
        </p:txBody>
      </p:sp>
      <p:sp>
        <p:nvSpPr>
          <p:cNvPr id="30" name="Text 5"/>
          <p:cNvSpPr/>
          <p:nvPr/>
        </p:nvSpPr>
        <p:spPr>
          <a:xfrm>
            <a:off x="1066800" y="4000500"/>
            <a:ext cx="1828800" cy="228600"/>
          </a:xfrm>
          <a:prstGeom prst="rect">
            <a:avLst/>
          </a:prstGeom>
          <a:noFill/>
          <a:ln/>
        </p:spPr>
        <p:txBody>
          <a:bodyPr vert="horz" wrap="square" lIns="0" tIns="0" rIns="0" bIns="0" rtlCol="0" anchor="t"/>
          <a:lstStyle/>
          <a:p>
            <a:pPr marL="0" indent="0" algn="l">
              <a:lnSpc>
                <a:spcPts val="1800"/>
              </a:lnSpc>
              <a:buNone/>
            </a:pPr>
            <a:r>
              <a:rPr lang="en-US" sz="1200" dirty="0">
                <a:solidFill>
                  <a:srgbClr val="4B5563"/>
                </a:solidFill>
                <a:latin typeface="標楷體" panose="03000509000000000000" pitchFamily="65" charset="-120"/>
                <a:ea typeface="標楷體" panose="03000509000000000000" pitchFamily="65" charset="-120"/>
                <a:cs typeface="ui-sans-serif" pitchFamily="34" charset="-120"/>
              </a:rPr>
              <a:t>實現零延遲的初步標註</a:t>
            </a:r>
            <a:endParaRPr lang="en-US" sz="1200" dirty="0">
              <a:latin typeface="標楷體" panose="03000509000000000000" pitchFamily="65" charset="-120"/>
              <a:ea typeface="標楷體" panose="03000509000000000000" pitchFamily="65" charset="-120"/>
            </a:endParaRPr>
          </a:p>
        </p:txBody>
      </p:sp>
      <p:sp>
        <p:nvSpPr>
          <p:cNvPr id="31" name="Text 6"/>
          <p:cNvSpPr/>
          <p:nvPr/>
        </p:nvSpPr>
        <p:spPr>
          <a:xfrm>
            <a:off x="1066800" y="4343400"/>
            <a:ext cx="2926080" cy="228600"/>
          </a:xfrm>
          <a:prstGeom prst="rect">
            <a:avLst/>
          </a:prstGeom>
          <a:noFill/>
          <a:ln/>
        </p:spPr>
        <p:txBody>
          <a:bodyPr vert="horz" wrap="square" lIns="0" tIns="0" rIns="0" bIns="0" rtlCol="0" anchor="t"/>
          <a:lstStyle/>
          <a:p>
            <a:pPr marL="0" indent="0" algn="l">
              <a:lnSpc>
                <a:spcPts val="1800"/>
              </a:lnSpc>
              <a:buNone/>
            </a:pPr>
            <a:r>
              <a:rPr lang="en-US" sz="1200" dirty="0">
                <a:solidFill>
                  <a:srgbClr val="4B5563"/>
                </a:solidFill>
                <a:latin typeface="標楷體" panose="03000509000000000000" pitchFamily="65" charset="-120"/>
                <a:ea typeface="標楷體" panose="03000509000000000000" pitchFamily="65" charset="-120"/>
                <a:cs typeface="ui-sans-serif" pitchFamily="34" charset="-120"/>
              </a:rPr>
              <a:t>保障使用者原始圖像數據的隱私安全</a:t>
            </a:r>
            <a:endParaRPr lang="en-US" sz="1200" dirty="0">
              <a:latin typeface="標楷體" panose="03000509000000000000" pitchFamily="65" charset="-120"/>
              <a:ea typeface="標楷體" panose="03000509000000000000" pitchFamily="65" charset="-120"/>
            </a:endParaRPr>
          </a:p>
        </p:txBody>
      </p:sp>
      <p:sp>
        <p:nvSpPr>
          <p:cNvPr id="32" name="Text 7"/>
          <p:cNvSpPr/>
          <p:nvPr/>
        </p:nvSpPr>
        <p:spPr>
          <a:xfrm>
            <a:off x="7988350" y="2609850"/>
            <a:ext cx="863144" cy="304800"/>
          </a:xfrm>
          <a:prstGeom prst="rect">
            <a:avLst/>
          </a:prstGeom>
          <a:noFill/>
          <a:ln/>
        </p:spPr>
        <p:txBody>
          <a:bodyPr vert="horz" wrap="square" lIns="0" tIns="0" rIns="0" bIns="0" rtlCol="0" anchor="t"/>
          <a:lstStyle/>
          <a:p>
            <a:pPr marL="0" indent="0">
              <a:lnSpc>
                <a:spcPts val="2400"/>
              </a:lnSpc>
              <a:buNone/>
            </a:pPr>
            <a:r>
              <a:rPr lang="en-US" sz="1800" b="1" dirty="0">
                <a:solidFill>
                  <a:srgbClr val="1F2937"/>
                </a:solidFill>
                <a:latin typeface="標楷體" panose="03000509000000000000" pitchFamily="65" charset="-120"/>
                <a:ea typeface="標楷體" panose="03000509000000000000" pitchFamily="65" charset="-120"/>
                <a:cs typeface="ui-sans-serif" pitchFamily="34" charset="-120"/>
              </a:rPr>
              <a:t>雲端AI</a:t>
            </a:r>
            <a:endParaRPr lang="en-US" sz="1800" dirty="0">
              <a:latin typeface="標楷體" panose="03000509000000000000" pitchFamily="65" charset="-120"/>
              <a:ea typeface="標楷體" panose="03000509000000000000" pitchFamily="65" charset="-120"/>
            </a:endParaRPr>
          </a:p>
        </p:txBody>
      </p:sp>
      <p:sp>
        <p:nvSpPr>
          <p:cNvPr id="33" name="Text 8"/>
          <p:cNvSpPr/>
          <p:nvPr/>
        </p:nvSpPr>
        <p:spPr>
          <a:xfrm>
            <a:off x="7645450" y="3200400"/>
            <a:ext cx="4000857" cy="228600"/>
          </a:xfrm>
          <a:prstGeom prst="rect">
            <a:avLst/>
          </a:prstGeom>
          <a:noFill/>
          <a:ln/>
        </p:spPr>
        <p:txBody>
          <a:bodyPr vert="horz" wrap="square" lIns="0" tIns="0" rIns="0" bIns="0" rtlCol="0" anchor="t"/>
          <a:lstStyle/>
          <a:p>
            <a:pPr marL="0" indent="0" algn="l">
              <a:lnSpc>
                <a:spcPts val="1800"/>
              </a:lnSpc>
              <a:buNone/>
            </a:pPr>
            <a:r>
              <a:rPr lang="en-US" sz="1200" dirty="0">
                <a:solidFill>
                  <a:srgbClr val="4B5563"/>
                </a:solidFill>
                <a:latin typeface="標楷體" panose="03000509000000000000" pitchFamily="65" charset="-120"/>
                <a:ea typeface="標楷體" panose="03000509000000000000" pitchFamily="65" charset="-120"/>
                <a:cs typeface="ui-sans-serif" pitchFamily="34" charset="-120"/>
              </a:rPr>
              <a:t>利用大型語言模型（LLM API）進行深度語意理解</a:t>
            </a:r>
            <a:endParaRPr lang="en-US" sz="1200" dirty="0">
              <a:latin typeface="標楷體" panose="03000509000000000000" pitchFamily="65" charset="-120"/>
              <a:ea typeface="標楷體" panose="03000509000000000000" pitchFamily="65" charset="-120"/>
            </a:endParaRPr>
          </a:p>
        </p:txBody>
      </p:sp>
      <p:sp>
        <p:nvSpPr>
          <p:cNvPr id="34" name="Text 9"/>
          <p:cNvSpPr/>
          <p:nvPr/>
        </p:nvSpPr>
        <p:spPr>
          <a:xfrm>
            <a:off x="7645450" y="3543300"/>
            <a:ext cx="3108960" cy="228600"/>
          </a:xfrm>
          <a:prstGeom prst="rect">
            <a:avLst/>
          </a:prstGeom>
          <a:noFill/>
          <a:ln/>
        </p:spPr>
        <p:txBody>
          <a:bodyPr vert="horz" wrap="square" lIns="0" tIns="0" rIns="0" bIns="0" rtlCol="0" anchor="t"/>
          <a:lstStyle/>
          <a:p>
            <a:pPr marL="0" indent="0" algn="l">
              <a:lnSpc>
                <a:spcPts val="1800"/>
              </a:lnSpc>
              <a:buNone/>
            </a:pPr>
            <a:r>
              <a:rPr lang="en-US" sz="1200" dirty="0">
                <a:solidFill>
                  <a:srgbClr val="4B5563"/>
                </a:solidFill>
                <a:latin typeface="標楷體" panose="03000509000000000000" pitchFamily="65" charset="-120"/>
                <a:ea typeface="標楷體" panose="03000509000000000000" pitchFamily="65" charset="-120"/>
                <a:cs typeface="ui-sans-serif" pitchFamily="34" charset="-120"/>
              </a:rPr>
              <a:t>生成衣物細節屬性、情境感知推薦組合</a:t>
            </a:r>
            <a:endParaRPr lang="en-US" sz="1200" dirty="0">
              <a:latin typeface="標楷體" panose="03000509000000000000" pitchFamily="65" charset="-120"/>
              <a:ea typeface="標楷體" panose="03000509000000000000" pitchFamily="65" charset="-120"/>
            </a:endParaRPr>
          </a:p>
        </p:txBody>
      </p:sp>
      <p:sp>
        <p:nvSpPr>
          <p:cNvPr id="35" name="Text 10"/>
          <p:cNvSpPr/>
          <p:nvPr/>
        </p:nvSpPr>
        <p:spPr>
          <a:xfrm>
            <a:off x="7645450" y="3886200"/>
            <a:ext cx="2926080" cy="228600"/>
          </a:xfrm>
          <a:prstGeom prst="rect">
            <a:avLst/>
          </a:prstGeom>
          <a:noFill/>
          <a:ln/>
        </p:spPr>
        <p:txBody>
          <a:bodyPr vert="horz" wrap="square" lIns="0" tIns="0" rIns="0" bIns="0" rtlCol="0" anchor="t"/>
          <a:lstStyle/>
          <a:p>
            <a:pPr marL="0" indent="0" algn="l">
              <a:lnSpc>
                <a:spcPts val="1800"/>
              </a:lnSpc>
              <a:buNone/>
            </a:pPr>
            <a:r>
              <a:rPr lang="en-US" sz="1200" dirty="0">
                <a:solidFill>
                  <a:srgbClr val="4B5563"/>
                </a:solidFill>
                <a:latin typeface="標楷體" panose="03000509000000000000" pitchFamily="65" charset="-120"/>
                <a:ea typeface="標楷體" panose="03000509000000000000" pitchFamily="65" charset="-120"/>
                <a:cs typeface="ui-sans-serif" pitchFamily="34" charset="-120"/>
              </a:rPr>
              <a:t>提供自然語言的推薦理由與搭配點評</a:t>
            </a:r>
            <a:endParaRPr lang="en-US" sz="1200" dirty="0">
              <a:latin typeface="標楷體" panose="03000509000000000000" pitchFamily="65" charset="-120"/>
              <a:ea typeface="標楷體" panose="03000509000000000000" pitchFamily="65" charset="-120"/>
            </a:endParaRPr>
          </a:p>
        </p:txBody>
      </p:sp>
      <p:sp>
        <p:nvSpPr>
          <p:cNvPr id="36" name="Text 11"/>
          <p:cNvSpPr/>
          <p:nvPr/>
        </p:nvSpPr>
        <p:spPr>
          <a:xfrm>
            <a:off x="7645450" y="4229100"/>
            <a:ext cx="3840480" cy="228600"/>
          </a:xfrm>
          <a:prstGeom prst="rect">
            <a:avLst/>
          </a:prstGeom>
          <a:noFill/>
          <a:ln/>
        </p:spPr>
        <p:txBody>
          <a:bodyPr vert="horz" wrap="square" lIns="0" tIns="0" rIns="0" bIns="0" rtlCol="0" anchor="t"/>
          <a:lstStyle/>
          <a:p>
            <a:pPr marL="0" indent="0" algn="l">
              <a:lnSpc>
                <a:spcPts val="1800"/>
              </a:lnSpc>
              <a:buNone/>
            </a:pPr>
            <a:r>
              <a:rPr lang="en-US" sz="1200" dirty="0">
                <a:solidFill>
                  <a:srgbClr val="4B5563"/>
                </a:solidFill>
                <a:latin typeface="標楷體" panose="03000509000000000000" pitchFamily="65" charset="-120"/>
                <a:ea typeface="標楷體" panose="03000509000000000000" pitchFamily="65" charset="-120"/>
                <a:cs typeface="ui-sans-serif" pitchFamily="34" charset="-120"/>
              </a:rPr>
              <a:t>進行膠囊衣櫥分析，確保推薦的精準性與個人化</a:t>
            </a:r>
            <a:endParaRPr lang="en-US" sz="1200" dirty="0">
              <a:latin typeface="標楷體" panose="03000509000000000000" pitchFamily="65" charset="-120"/>
              <a:ea typeface="標楷體" panose="03000509000000000000" pitchFamily="65" charset="-120"/>
            </a:endParaRPr>
          </a:p>
        </p:txBody>
      </p:sp>
      <p:sp>
        <p:nvSpPr>
          <p:cNvPr id="37" name="Text 12"/>
          <p:cNvSpPr/>
          <p:nvPr/>
        </p:nvSpPr>
        <p:spPr>
          <a:xfrm>
            <a:off x="609600" y="5334000"/>
            <a:ext cx="10972800" cy="266700"/>
          </a:xfrm>
          <a:prstGeom prst="rect">
            <a:avLst/>
          </a:prstGeom>
          <a:noFill/>
          <a:ln/>
        </p:spPr>
        <p:txBody>
          <a:bodyPr vert="horz" wrap="square" lIns="0" tIns="0" rIns="0" bIns="0" rtlCol="0" anchor="t"/>
          <a:lstStyle/>
          <a:p>
            <a:pPr marL="0" indent="0">
              <a:lnSpc>
                <a:spcPts val="2100"/>
              </a:lnSpc>
              <a:buNone/>
            </a:pPr>
            <a:r>
              <a:rPr lang="en-US" sz="1500" b="1" dirty="0">
                <a:solidFill>
                  <a:srgbClr val="1F2937"/>
                </a:solidFill>
                <a:latin typeface="標楷體" panose="03000509000000000000" pitchFamily="65" charset="-120"/>
                <a:ea typeface="標楷體" panose="03000509000000000000" pitchFamily="65" charset="-120"/>
                <a:cs typeface="ui-sans-serif" pitchFamily="34" charset="-120"/>
              </a:rPr>
              <a:t>架構優勢</a:t>
            </a:r>
            <a:endParaRPr lang="en-US" sz="1500" dirty="0">
              <a:latin typeface="標楷體" panose="03000509000000000000" pitchFamily="65" charset="-120"/>
              <a:ea typeface="標楷體" panose="03000509000000000000" pitchFamily="65" charset="-120"/>
            </a:endParaRPr>
          </a:p>
        </p:txBody>
      </p:sp>
      <p:sp>
        <p:nvSpPr>
          <p:cNvPr id="38" name="Text 13"/>
          <p:cNvSpPr/>
          <p:nvPr/>
        </p:nvSpPr>
        <p:spPr>
          <a:xfrm>
            <a:off x="895350" y="5715000"/>
            <a:ext cx="2194560" cy="228600"/>
          </a:xfrm>
          <a:prstGeom prst="rect">
            <a:avLst/>
          </a:prstGeom>
          <a:noFill/>
          <a:ln/>
        </p:spPr>
        <p:txBody>
          <a:bodyPr vert="horz" wrap="square" lIns="0" tIns="0" rIns="0" bIns="0" rtlCol="0" anchor="t"/>
          <a:lstStyle/>
          <a:p>
            <a:pPr marL="0" indent="0">
              <a:lnSpc>
                <a:spcPts val="1800"/>
              </a:lnSpc>
              <a:buNone/>
            </a:pPr>
            <a:r>
              <a:rPr lang="en-US" sz="1200" dirty="0">
                <a:solidFill>
                  <a:srgbClr val="374151"/>
                </a:solidFill>
                <a:latin typeface="標楷體" panose="03000509000000000000" pitchFamily="65" charset="-120"/>
                <a:ea typeface="標楷體" panose="03000509000000000000" pitchFamily="65" charset="-120"/>
                <a:cs typeface="ui-sans-serif" pitchFamily="34" charset="-120"/>
              </a:rPr>
              <a:t>大幅降低伺服器負載和延遲</a:t>
            </a:r>
            <a:endParaRPr lang="en-US" sz="1200" dirty="0">
              <a:latin typeface="標楷體" panose="03000509000000000000" pitchFamily="65" charset="-120"/>
              <a:ea typeface="標楷體" panose="03000509000000000000" pitchFamily="65" charset="-120"/>
            </a:endParaRPr>
          </a:p>
        </p:txBody>
      </p:sp>
      <p:sp>
        <p:nvSpPr>
          <p:cNvPr id="39" name="Text 14"/>
          <p:cNvSpPr/>
          <p:nvPr/>
        </p:nvSpPr>
        <p:spPr>
          <a:xfrm>
            <a:off x="5324475" y="5715000"/>
            <a:ext cx="2377440" cy="228600"/>
          </a:xfrm>
          <a:prstGeom prst="rect">
            <a:avLst/>
          </a:prstGeom>
          <a:noFill/>
          <a:ln/>
        </p:spPr>
        <p:txBody>
          <a:bodyPr vert="horz" wrap="square" lIns="0" tIns="0" rIns="0" bIns="0" rtlCol="0" anchor="t"/>
          <a:lstStyle/>
          <a:p>
            <a:pPr marL="0" indent="0">
              <a:lnSpc>
                <a:spcPts val="1800"/>
              </a:lnSpc>
              <a:buNone/>
            </a:pPr>
            <a:r>
              <a:rPr lang="en-US" sz="1200" dirty="0">
                <a:solidFill>
                  <a:srgbClr val="374151"/>
                </a:solidFill>
                <a:latin typeface="標楷體" panose="03000509000000000000" pitchFamily="65" charset="-120"/>
                <a:ea typeface="標楷體" panose="03000509000000000000" pitchFamily="65" charset="-120"/>
                <a:cs typeface="ui-sans-serif" pitchFamily="34" charset="-120"/>
              </a:rPr>
              <a:t>從根本上保護使用者數據隱私</a:t>
            </a:r>
            <a:endParaRPr lang="en-US" sz="1200" dirty="0">
              <a:latin typeface="標楷體" panose="03000509000000000000" pitchFamily="65" charset="-120"/>
              <a:ea typeface="標楷體" panose="03000509000000000000" pitchFamily="65" charset="-120"/>
            </a:endParaRPr>
          </a:p>
        </p:txBody>
      </p:sp>
      <p:sp>
        <p:nvSpPr>
          <p:cNvPr id="40" name="Text 15"/>
          <p:cNvSpPr/>
          <p:nvPr/>
        </p:nvSpPr>
        <p:spPr>
          <a:xfrm>
            <a:off x="9906000" y="5715000"/>
            <a:ext cx="2011680" cy="228600"/>
          </a:xfrm>
          <a:prstGeom prst="rect">
            <a:avLst/>
          </a:prstGeom>
          <a:noFill/>
          <a:ln/>
        </p:spPr>
        <p:txBody>
          <a:bodyPr vert="horz" wrap="square" lIns="0" tIns="0" rIns="0" bIns="0" rtlCol="0" anchor="t"/>
          <a:lstStyle/>
          <a:p>
            <a:pPr marL="0" indent="0">
              <a:lnSpc>
                <a:spcPts val="1800"/>
              </a:lnSpc>
              <a:buNone/>
            </a:pPr>
            <a:r>
              <a:rPr lang="en-US" sz="1200" dirty="0">
                <a:solidFill>
                  <a:srgbClr val="374151"/>
                </a:solidFill>
                <a:latin typeface="標楷體" panose="03000509000000000000" pitchFamily="65" charset="-120"/>
                <a:ea typeface="標楷體" panose="03000509000000000000" pitchFamily="65" charset="-120"/>
                <a:cs typeface="ui-sans-serif" pitchFamily="34" charset="-120"/>
              </a:rPr>
              <a:t>實現複雜的智慧穿搭功能</a:t>
            </a:r>
            <a:endParaRPr lang="en-US" sz="1200" dirty="0">
              <a:latin typeface="標楷體" panose="03000509000000000000" pitchFamily="65" charset="-120"/>
              <a:ea typeface="標楷體" panose="03000509000000000000" pitchFamily="65" charset="-12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18285" y="-127000"/>
            <a:ext cx="12192000" cy="6858000"/>
          </a:xfrm>
          <a:prstGeom prst="rect">
            <a:avLst/>
          </a:prstGeom>
        </p:spPr>
      </p:pic>
      <p:pic>
        <p:nvPicPr>
          <p:cNvPr id="3" name="Image 1" descr="preencoded.png"/>
          <p:cNvPicPr>
            <a:picLocks noChangeAspect="1"/>
          </p:cNvPicPr>
          <p:nvPr/>
        </p:nvPicPr>
        <p:blipFill>
          <a:blip r:embed="rId4"/>
          <a:stretch>
            <a:fillRect/>
          </a:stretch>
        </p:blipFill>
        <p:spPr>
          <a:xfrm>
            <a:off x="0" y="0"/>
            <a:ext cx="12192000" cy="952500"/>
          </a:xfrm>
          <a:prstGeom prst="rect">
            <a:avLst/>
          </a:prstGeom>
        </p:spPr>
      </p:pic>
      <p:sp>
        <p:nvSpPr>
          <p:cNvPr id="32" name="Text 0"/>
          <p:cNvSpPr/>
          <p:nvPr/>
        </p:nvSpPr>
        <p:spPr>
          <a:xfrm>
            <a:off x="609600" y="285750"/>
            <a:ext cx="4526280" cy="381000"/>
          </a:xfrm>
          <a:prstGeom prst="rect">
            <a:avLst/>
          </a:prstGeom>
          <a:noFill/>
          <a:ln/>
        </p:spPr>
        <p:txBody>
          <a:bodyPr vert="horz" wrap="square" lIns="0" tIns="0" rIns="0" bIns="0" rtlCol="0" anchor="t"/>
          <a:lstStyle/>
          <a:p>
            <a:pPr marL="0" indent="0">
              <a:lnSpc>
                <a:spcPts val="3000"/>
              </a:lnSpc>
              <a:buNone/>
            </a:pPr>
            <a:r>
              <a:rPr lang="en-US" sz="2700" b="1" dirty="0">
                <a:solidFill>
                  <a:srgbClr val="FFFFFF"/>
                </a:solidFill>
                <a:latin typeface="標楷體" panose="03000509000000000000" pitchFamily="65" charset="-120"/>
                <a:ea typeface="標楷體" panose="03000509000000000000" pitchFamily="65" charset="-120"/>
                <a:cs typeface="ui-sans-serif" pitchFamily="34" charset="-120"/>
              </a:rPr>
              <a:t>執行方向：六步閉環流程</a:t>
            </a:r>
            <a:endParaRPr lang="en-US" sz="2700" dirty="0">
              <a:latin typeface="標楷體" panose="03000509000000000000" pitchFamily="65" charset="-120"/>
              <a:ea typeface="標楷體" panose="03000509000000000000" pitchFamily="65" charset="-120"/>
            </a:endParaRPr>
          </a:p>
        </p:txBody>
      </p:sp>
      <p:sp>
        <p:nvSpPr>
          <p:cNvPr id="33" name="Text 1"/>
          <p:cNvSpPr/>
          <p:nvPr/>
        </p:nvSpPr>
        <p:spPr>
          <a:xfrm>
            <a:off x="381000" y="1333500"/>
            <a:ext cx="13716000" cy="266700"/>
          </a:xfrm>
          <a:prstGeom prst="rect">
            <a:avLst/>
          </a:prstGeom>
          <a:noFill/>
          <a:ln/>
        </p:spPr>
        <p:txBody>
          <a:bodyPr vert="horz" wrap="square" lIns="0" tIns="0" rIns="0" bIns="0" rtlCol="0" anchor="t"/>
          <a:lstStyle/>
          <a:p>
            <a:pPr marL="0" indent="0">
              <a:lnSpc>
                <a:spcPts val="2100"/>
              </a:lnSpc>
              <a:buNone/>
            </a:pPr>
            <a:r>
              <a:rPr lang="en-US" sz="1500" dirty="0">
                <a:solidFill>
                  <a:srgbClr val="374151"/>
                </a:solidFill>
                <a:latin typeface="標楷體" panose="03000509000000000000" pitchFamily="65" charset="-120"/>
                <a:ea typeface="標楷體" panose="03000509000000000000" pitchFamily="65" charset="-120"/>
                <a:cs typeface="ui-sans-serif" pitchFamily="34" charset="-120"/>
              </a:rPr>
              <a:t>WearWise系統運作於一個六大步驟組成的閉環流程，確保從衣物入庫到智慧推薦，再到使用者偏好學習的完整體驗</a:t>
            </a:r>
            <a:endParaRPr lang="en-US" sz="1500" dirty="0">
              <a:latin typeface="標楷體" panose="03000509000000000000" pitchFamily="65" charset="-120"/>
              <a:ea typeface="標楷體" panose="03000509000000000000" pitchFamily="65" charset="-120"/>
            </a:endParaRPr>
          </a:p>
        </p:txBody>
      </p:sp>
      <p:grpSp>
        <p:nvGrpSpPr>
          <p:cNvPr id="65" name="群組 64">
            <a:extLst>
              <a:ext uri="{FF2B5EF4-FFF2-40B4-BE49-F238E27FC236}">
                <a16:creationId xmlns:a16="http://schemas.microsoft.com/office/drawing/2014/main" id="{A397B04F-B187-F288-911F-92D8D049D49A}"/>
              </a:ext>
            </a:extLst>
          </p:cNvPr>
          <p:cNvGrpSpPr/>
          <p:nvPr/>
        </p:nvGrpSpPr>
        <p:grpSpPr>
          <a:xfrm>
            <a:off x="2664702" y="2044700"/>
            <a:ext cx="1714500" cy="1714500"/>
            <a:chOff x="1733624" y="2218267"/>
            <a:chExt cx="1714500" cy="1714500"/>
          </a:xfrm>
        </p:grpSpPr>
        <p:pic>
          <p:nvPicPr>
            <p:cNvPr id="4" name="Image 2" descr="preencoded.png"/>
            <p:cNvPicPr>
              <a:picLocks noChangeAspect="1"/>
            </p:cNvPicPr>
            <p:nvPr/>
          </p:nvPicPr>
          <p:blipFill>
            <a:blip r:embed="rId5"/>
            <a:stretch>
              <a:fillRect/>
            </a:stretch>
          </p:blipFill>
          <p:spPr>
            <a:xfrm>
              <a:off x="1733624" y="2218267"/>
              <a:ext cx="1714500" cy="1714500"/>
            </a:xfrm>
            <a:prstGeom prst="rect">
              <a:avLst/>
            </a:prstGeom>
          </p:spPr>
        </p:pic>
        <p:pic>
          <p:nvPicPr>
            <p:cNvPr id="6" name="Image 4" descr="preencoded.png"/>
            <p:cNvPicPr>
              <a:picLocks noChangeAspect="1"/>
            </p:cNvPicPr>
            <p:nvPr/>
          </p:nvPicPr>
          <p:blipFill>
            <a:blip r:embed="rId6"/>
            <a:stretch>
              <a:fillRect/>
            </a:stretch>
          </p:blipFill>
          <p:spPr>
            <a:xfrm>
              <a:off x="2266950" y="2476500"/>
              <a:ext cx="609600" cy="609600"/>
            </a:xfrm>
            <a:prstGeom prst="rect">
              <a:avLst/>
            </a:prstGeom>
          </p:spPr>
        </p:pic>
        <p:pic>
          <p:nvPicPr>
            <p:cNvPr id="7" name="Image 5" descr="preencoded.png"/>
            <p:cNvPicPr>
              <a:picLocks noChangeAspect="1"/>
            </p:cNvPicPr>
            <p:nvPr/>
          </p:nvPicPr>
          <p:blipFill>
            <a:blip r:embed="rId7"/>
            <a:stretch>
              <a:fillRect/>
            </a:stretch>
          </p:blipFill>
          <p:spPr>
            <a:xfrm>
              <a:off x="2428875" y="2609850"/>
              <a:ext cx="285750" cy="342900"/>
            </a:xfrm>
            <a:prstGeom prst="rect">
              <a:avLst/>
            </a:prstGeom>
          </p:spPr>
        </p:pic>
        <p:sp>
          <p:nvSpPr>
            <p:cNvPr id="35" name="Text 3"/>
            <p:cNvSpPr/>
            <p:nvPr/>
          </p:nvSpPr>
          <p:spPr>
            <a:xfrm>
              <a:off x="1954530" y="3162300"/>
              <a:ext cx="1234440" cy="266700"/>
            </a:xfrm>
            <a:prstGeom prst="rect">
              <a:avLst/>
            </a:prstGeom>
            <a:noFill/>
            <a:ln/>
          </p:spPr>
          <p:txBody>
            <a:bodyPr vert="horz" wrap="square" lIns="0" tIns="0" rIns="0" bIns="0" rtlCol="0" anchor="t"/>
            <a:lstStyle/>
            <a:p>
              <a:pPr marL="0" indent="0" algn="ctr">
                <a:lnSpc>
                  <a:spcPts val="2100"/>
                </a:lnSpc>
                <a:buNone/>
              </a:pPr>
              <a:r>
                <a:rPr lang="en-US" sz="1350" b="1" dirty="0">
                  <a:solidFill>
                    <a:srgbClr val="1F2937"/>
                  </a:solidFill>
                  <a:latin typeface="標楷體" panose="03000509000000000000" pitchFamily="65" charset="-120"/>
                  <a:ea typeface="標楷體" panose="03000509000000000000" pitchFamily="65" charset="-120"/>
                  <a:cs typeface="ui-sans-serif" pitchFamily="34" charset="-120"/>
                </a:rPr>
                <a:t>影像初步分類</a:t>
              </a:r>
              <a:endParaRPr lang="en-US" sz="1350" dirty="0">
                <a:latin typeface="標楷體" panose="03000509000000000000" pitchFamily="65" charset="-120"/>
                <a:ea typeface="標楷體" panose="03000509000000000000" pitchFamily="65" charset="-120"/>
              </a:endParaRPr>
            </a:p>
          </p:txBody>
        </p:sp>
        <p:sp>
          <p:nvSpPr>
            <p:cNvPr id="36" name="Text 4"/>
            <p:cNvSpPr/>
            <p:nvPr/>
          </p:nvSpPr>
          <p:spPr>
            <a:xfrm>
              <a:off x="2173307" y="3467100"/>
              <a:ext cx="796885" cy="190500"/>
            </a:xfrm>
            <a:prstGeom prst="rect">
              <a:avLst/>
            </a:prstGeom>
            <a:noFill/>
            <a:ln/>
          </p:spPr>
          <p:txBody>
            <a:bodyPr vert="horz" wrap="square" lIns="0" tIns="0" rIns="0" bIns="0" rtlCol="0" anchor="t"/>
            <a:lstStyle/>
            <a:p>
              <a:pPr marL="0" indent="0" algn="ctr">
                <a:lnSpc>
                  <a:spcPts val="1500"/>
                </a:lnSpc>
                <a:buNone/>
              </a:pPr>
              <a:r>
                <a:rPr lang="en-US" sz="1050" dirty="0">
                  <a:solidFill>
                    <a:srgbClr val="4B5563"/>
                  </a:solidFill>
                  <a:latin typeface="標楷體" panose="03000509000000000000" pitchFamily="65" charset="-120"/>
                  <a:ea typeface="標楷體" panose="03000509000000000000" pitchFamily="65" charset="-120"/>
                  <a:cs typeface="ui-sans-serif" pitchFamily="34" charset="-120"/>
                </a:rPr>
                <a:t>端側AI模型</a:t>
              </a:r>
              <a:endParaRPr lang="en-US" sz="1050" dirty="0">
                <a:latin typeface="標楷體" panose="03000509000000000000" pitchFamily="65" charset="-120"/>
                <a:ea typeface="標楷體" panose="03000509000000000000" pitchFamily="65" charset="-120"/>
              </a:endParaRPr>
            </a:p>
          </p:txBody>
        </p:sp>
      </p:grpSp>
      <p:grpSp>
        <p:nvGrpSpPr>
          <p:cNvPr id="61" name="群組 60">
            <a:extLst>
              <a:ext uri="{FF2B5EF4-FFF2-40B4-BE49-F238E27FC236}">
                <a16:creationId xmlns:a16="http://schemas.microsoft.com/office/drawing/2014/main" id="{9BE1B0F2-1463-2E15-533C-AA8C5D144FF8}"/>
              </a:ext>
            </a:extLst>
          </p:cNvPr>
          <p:cNvGrpSpPr/>
          <p:nvPr/>
        </p:nvGrpSpPr>
        <p:grpSpPr>
          <a:xfrm>
            <a:off x="968733" y="3418416"/>
            <a:ext cx="1714500" cy="1714500"/>
            <a:chOff x="8763000" y="2209800"/>
            <a:chExt cx="1714500" cy="1714500"/>
          </a:xfrm>
        </p:grpSpPr>
        <p:pic>
          <p:nvPicPr>
            <p:cNvPr id="8" name="Image 6" descr="preencoded.png"/>
            <p:cNvPicPr>
              <a:picLocks noChangeAspect="1"/>
            </p:cNvPicPr>
            <p:nvPr/>
          </p:nvPicPr>
          <p:blipFill>
            <a:blip r:embed="rId8"/>
            <a:stretch>
              <a:fillRect/>
            </a:stretch>
          </p:blipFill>
          <p:spPr>
            <a:xfrm>
              <a:off x="8763000" y="2209800"/>
              <a:ext cx="1714500" cy="1714500"/>
            </a:xfrm>
            <a:prstGeom prst="rect">
              <a:avLst/>
            </a:prstGeom>
          </p:spPr>
        </p:pic>
        <p:pic>
          <p:nvPicPr>
            <p:cNvPr id="10" name="Image 8" descr="preencoded.png"/>
            <p:cNvPicPr>
              <a:picLocks noChangeAspect="1"/>
            </p:cNvPicPr>
            <p:nvPr/>
          </p:nvPicPr>
          <p:blipFill>
            <a:blip r:embed="rId9"/>
            <a:stretch>
              <a:fillRect/>
            </a:stretch>
          </p:blipFill>
          <p:spPr>
            <a:xfrm>
              <a:off x="9315450" y="2476500"/>
              <a:ext cx="609600" cy="609600"/>
            </a:xfrm>
            <a:prstGeom prst="rect">
              <a:avLst/>
            </a:prstGeom>
          </p:spPr>
        </p:pic>
        <p:pic>
          <p:nvPicPr>
            <p:cNvPr id="11" name="Image 9" descr="preencoded.png"/>
            <p:cNvPicPr>
              <a:picLocks noChangeAspect="1"/>
            </p:cNvPicPr>
            <p:nvPr/>
          </p:nvPicPr>
          <p:blipFill>
            <a:blip r:embed="rId10"/>
            <a:stretch>
              <a:fillRect/>
            </a:stretch>
          </p:blipFill>
          <p:spPr>
            <a:xfrm>
              <a:off x="9477375" y="2609850"/>
              <a:ext cx="285750" cy="342900"/>
            </a:xfrm>
            <a:prstGeom prst="rect">
              <a:avLst/>
            </a:prstGeom>
          </p:spPr>
        </p:pic>
        <p:sp>
          <p:nvSpPr>
            <p:cNvPr id="38" name="Text 6"/>
            <p:cNvSpPr/>
            <p:nvPr/>
          </p:nvSpPr>
          <p:spPr>
            <a:xfrm>
              <a:off x="9003030" y="3162300"/>
              <a:ext cx="1234440" cy="266700"/>
            </a:xfrm>
            <a:prstGeom prst="rect">
              <a:avLst/>
            </a:prstGeom>
            <a:noFill/>
            <a:ln/>
          </p:spPr>
          <p:txBody>
            <a:bodyPr vert="horz" wrap="square" lIns="0" tIns="0" rIns="0" bIns="0" rtlCol="0" anchor="t"/>
            <a:lstStyle/>
            <a:p>
              <a:pPr marL="0" indent="0" algn="ctr">
                <a:lnSpc>
                  <a:spcPts val="2100"/>
                </a:lnSpc>
                <a:buNone/>
              </a:pPr>
              <a:r>
                <a:rPr lang="en-US" sz="1350" b="1" dirty="0">
                  <a:solidFill>
                    <a:srgbClr val="1F2937"/>
                  </a:solidFill>
                  <a:latin typeface="標楷體" panose="03000509000000000000" pitchFamily="65" charset="-120"/>
                  <a:ea typeface="標楷體" panose="03000509000000000000" pitchFamily="65" charset="-120"/>
                  <a:cs typeface="ui-sans-serif" pitchFamily="34" charset="-120"/>
                </a:rPr>
                <a:t>衣物細節生成</a:t>
              </a:r>
              <a:endParaRPr lang="en-US" sz="1350" dirty="0">
                <a:latin typeface="標楷體" panose="03000509000000000000" pitchFamily="65" charset="-120"/>
                <a:ea typeface="標楷體" panose="03000509000000000000" pitchFamily="65" charset="-120"/>
              </a:endParaRPr>
            </a:p>
          </p:txBody>
        </p:sp>
        <p:sp>
          <p:nvSpPr>
            <p:cNvPr id="39" name="Text 7"/>
            <p:cNvSpPr/>
            <p:nvPr/>
          </p:nvSpPr>
          <p:spPr>
            <a:xfrm>
              <a:off x="9141976" y="3467100"/>
              <a:ext cx="956548" cy="190500"/>
            </a:xfrm>
            <a:prstGeom prst="rect">
              <a:avLst/>
            </a:prstGeom>
            <a:noFill/>
            <a:ln/>
          </p:spPr>
          <p:txBody>
            <a:bodyPr vert="horz" wrap="square" lIns="0" tIns="0" rIns="0" bIns="0" rtlCol="0" anchor="t"/>
            <a:lstStyle/>
            <a:p>
              <a:pPr marL="0" indent="0" algn="ctr">
                <a:lnSpc>
                  <a:spcPts val="1500"/>
                </a:lnSpc>
                <a:buNone/>
              </a:pPr>
              <a:r>
                <a:rPr lang="en-US" sz="1050" dirty="0">
                  <a:solidFill>
                    <a:srgbClr val="4B5563"/>
                  </a:solidFill>
                  <a:latin typeface="標楷體" panose="03000509000000000000" pitchFamily="65" charset="-120"/>
                  <a:ea typeface="標楷體" panose="03000509000000000000" pitchFamily="65" charset="-120"/>
                  <a:cs typeface="ui-sans-serif" pitchFamily="34" charset="-120"/>
                </a:rPr>
                <a:t>LLM深度標註</a:t>
              </a:r>
              <a:endParaRPr lang="en-US" sz="1050" dirty="0">
                <a:latin typeface="標楷體" panose="03000509000000000000" pitchFamily="65" charset="-120"/>
                <a:ea typeface="標楷體" panose="03000509000000000000" pitchFamily="65" charset="-120"/>
              </a:endParaRPr>
            </a:p>
          </p:txBody>
        </p:sp>
      </p:grpSp>
      <p:grpSp>
        <p:nvGrpSpPr>
          <p:cNvPr id="63" name="群組 62">
            <a:extLst>
              <a:ext uri="{FF2B5EF4-FFF2-40B4-BE49-F238E27FC236}">
                <a16:creationId xmlns:a16="http://schemas.microsoft.com/office/drawing/2014/main" id="{3D6B5821-ED43-5EC3-CD8F-1FC5213FD918}"/>
              </a:ext>
            </a:extLst>
          </p:cNvPr>
          <p:cNvGrpSpPr/>
          <p:nvPr/>
        </p:nvGrpSpPr>
        <p:grpSpPr>
          <a:xfrm>
            <a:off x="2664702" y="4640262"/>
            <a:ext cx="1851660" cy="1714500"/>
            <a:chOff x="8694420" y="4381500"/>
            <a:chExt cx="1851660" cy="1714500"/>
          </a:xfrm>
        </p:grpSpPr>
        <p:pic>
          <p:nvPicPr>
            <p:cNvPr id="12" name="Image 10" descr="preencoded.png"/>
            <p:cNvPicPr>
              <a:picLocks noChangeAspect="1"/>
            </p:cNvPicPr>
            <p:nvPr/>
          </p:nvPicPr>
          <p:blipFill>
            <a:blip r:embed="rId11"/>
            <a:stretch>
              <a:fillRect/>
            </a:stretch>
          </p:blipFill>
          <p:spPr>
            <a:xfrm>
              <a:off x="8763000" y="4381500"/>
              <a:ext cx="1714500" cy="1714500"/>
            </a:xfrm>
            <a:prstGeom prst="rect">
              <a:avLst/>
            </a:prstGeom>
          </p:spPr>
        </p:pic>
        <p:pic>
          <p:nvPicPr>
            <p:cNvPr id="14" name="Image 12" descr="preencoded.png"/>
            <p:cNvPicPr>
              <a:picLocks noChangeAspect="1"/>
            </p:cNvPicPr>
            <p:nvPr/>
          </p:nvPicPr>
          <p:blipFill>
            <a:blip r:embed="rId12"/>
            <a:stretch>
              <a:fillRect/>
            </a:stretch>
          </p:blipFill>
          <p:spPr>
            <a:xfrm>
              <a:off x="9315450" y="4648200"/>
              <a:ext cx="609600" cy="609600"/>
            </a:xfrm>
            <a:prstGeom prst="rect">
              <a:avLst/>
            </a:prstGeom>
          </p:spPr>
        </p:pic>
        <p:pic>
          <p:nvPicPr>
            <p:cNvPr id="15" name="Image 13" descr="preencoded.png"/>
            <p:cNvPicPr>
              <a:picLocks noChangeAspect="1"/>
            </p:cNvPicPr>
            <p:nvPr/>
          </p:nvPicPr>
          <p:blipFill>
            <a:blip r:embed="rId13"/>
            <a:stretch>
              <a:fillRect/>
            </a:stretch>
          </p:blipFill>
          <p:spPr>
            <a:xfrm>
              <a:off x="9477375" y="4781550"/>
              <a:ext cx="285750" cy="342900"/>
            </a:xfrm>
            <a:prstGeom prst="rect">
              <a:avLst/>
            </a:prstGeom>
          </p:spPr>
        </p:pic>
        <p:sp>
          <p:nvSpPr>
            <p:cNvPr id="41" name="Text 9"/>
            <p:cNvSpPr/>
            <p:nvPr/>
          </p:nvSpPr>
          <p:spPr>
            <a:xfrm>
              <a:off x="8694420" y="5334000"/>
              <a:ext cx="1851660" cy="266700"/>
            </a:xfrm>
            <a:prstGeom prst="rect">
              <a:avLst/>
            </a:prstGeom>
            <a:noFill/>
            <a:ln/>
          </p:spPr>
          <p:txBody>
            <a:bodyPr vert="horz" wrap="square" lIns="0" tIns="0" rIns="0" bIns="0" rtlCol="0" anchor="t"/>
            <a:lstStyle/>
            <a:p>
              <a:pPr marL="0" indent="0" algn="ctr">
                <a:lnSpc>
                  <a:spcPts val="2100"/>
                </a:lnSpc>
                <a:buNone/>
              </a:pPr>
              <a:r>
                <a:rPr lang="en-US" sz="1350" b="1" dirty="0">
                  <a:solidFill>
                    <a:srgbClr val="1F2937"/>
                  </a:solidFill>
                  <a:latin typeface="標楷體" panose="03000509000000000000" pitchFamily="65" charset="-120"/>
                  <a:ea typeface="標楷體" panose="03000509000000000000" pitchFamily="65" charset="-120"/>
                  <a:cs typeface="ui-sans-serif" pitchFamily="34" charset="-120"/>
                </a:rPr>
                <a:t>情境輸入與本地過濾</a:t>
              </a:r>
              <a:endParaRPr lang="en-US" sz="1350" dirty="0">
                <a:latin typeface="標楷體" panose="03000509000000000000" pitchFamily="65" charset="-120"/>
                <a:ea typeface="標楷體" panose="03000509000000000000" pitchFamily="65" charset="-120"/>
              </a:endParaRPr>
            </a:p>
          </p:txBody>
        </p:sp>
        <p:sp>
          <p:nvSpPr>
            <p:cNvPr id="42" name="Text 10"/>
            <p:cNvSpPr/>
            <p:nvPr/>
          </p:nvSpPr>
          <p:spPr>
            <a:xfrm>
              <a:off x="9300210" y="5638800"/>
              <a:ext cx="640080" cy="190500"/>
            </a:xfrm>
            <a:prstGeom prst="rect">
              <a:avLst/>
            </a:prstGeom>
            <a:noFill/>
            <a:ln/>
          </p:spPr>
          <p:txBody>
            <a:bodyPr vert="horz" wrap="square" lIns="0" tIns="0" rIns="0" bIns="0" rtlCol="0" anchor="t"/>
            <a:lstStyle/>
            <a:p>
              <a:pPr marL="0" indent="0" algn="ctr">
                <a:lnSpc>
                  <a:spcPts val="1500"/>
                </a:lnSpc>
                <a:buNone/>
              </a:pPr>
              <a:r>
                <a:rPr lang="en-US" sz="1050" dirty="0">
                  <a:solidFill>
                    <a:srgbClr val="4B5563"/>
                  </a:solidFill>
                  <a:latin typeface="標楷體" panose="03000509000000000000" pitchFamily="65" charset="-120"/>
                  <a:ea typeface="標楷體" panose="03000509000000000000" pitchFamily="65" charset="-120"/>
                  <a:cs typeface="ui-sans-serif" pitchFamily="34" charset="-120"/>
                </a:rPr>
                <a:t>前端邏輯</a:t>
              </a:r>
              <a:endParaRPr lang="en-US" sz="1050" dirty="0">
                <a:latin typeface="標楷體" panose="03000509000000000000" pitchFamily="65" charset="-120"/>
                <a:ea typeface="標楷體" panose="03000509000000000000" pitchFamily="65" charset="-120"/>
              </a:endParaRPr>
            </a:p>
          </p:txBody>
        </p:sp>
      </p:grpSp>
      <p:grpSp>
        <p:nvGrpSpPr>
          <p:cNvPr id="66" name="群組 65">
            <a:extLst>
              <a:ext uri="{FF2B5EF4-FFF2-40B4-BE49-F238E27FC236}">
                <a16:creationId xmlns:a16="http://schemas.microsoft.com/office/drawing/2014/main" id="{275412B6-0AAD-9310-B762-334BE6BD811D}"/>
              </a:ext>
            </a:extLst>
          </p:cNvPr>
          <p:cNvGrpSpPr/>
          <p:nvPr/>
        </p:nvGrpSpPr>
        <p:grpSpPr>
          <a:xfrm>
            <a:off x="6980688" y="2055283"/>
            <a:ext cx="1714500" cy="1714500"/>
            <a:chOff x="1714500" y="4381500"/>
            <a:chExt cx="1714500" cy="1714500"/>
          </a:xfrm>
        </p:grpSpPr>
        <p:pic>
          <p:nvPicPr>
            <p:cNvPr id="16" name="Image 14" descr="preencoded.png"/>
            <p:cNvPicPr>
              <a:picLocks noChangeAspect="1"/>
            </p:cNvPicPr>
            <p:nvPr/>
          </p:nvPicPr>
          <p:blipFill>
            <a:blip r:embed="rId14"/>
            <a:stretch>
              <a:fillRect/>
            </a:stretch>
          </p:blipFill>
          <p:spPr>
            <a:xfrm>
              <a:off x="1714500" y="4381500"/>
              <a:ext cx="1714500" cy="1714500"/>
            </a:xfrm>
            <a:prstGeom prst="rect">
              <a:avLst/>
            </a:prstGeom>
          </p:spPr>
        </p:pic>
        <p:pic>
          <p:nvPicPr>
            <p:cNvPr id="18" name="Image 16" descr="preencoded.png"/>
            <p:cNvPicPr>
              <a:picLocks noChangeAspect="1"/>
            </p:cNvPicPr>
            <p:nvPr/>
          </p:nvPicPr>
          <p:blipFill>
            <a:blip r:embed="rId15"/>
            <a:stretch>
              <a:fillRect/>
            </a:stretch>
          </p:blipFill>
          <p:spPr>
            <a:xfrm>
              <a:off x="2266950" y="4648200"/>
              <a:ext cx="609600" cy="609600"/>
            </a:xfrm>
            <a:prstGeom prst="rect">
              <a:avLst/>
            </a:prstGeom>
          </p:spPr>
        </p:pic>
        <p:pic>
          <p:nvPicPr>
            <p:cNvPr id="19" name="Image 17" descr="preencoded.png"/>
            <p:cNvPicPr>
              <a:picLocks noChangeAspect="1"/>
            </p:cNvPicPr>
            <p:nvPr/>
          </p:nvPicPr>
          <p:blipFill>
            <a:blip r:embed="rId16"/>
            <a:stretch>
              <a:fillRect/>
            </a:stretch>
          </p:blipFill>
          <p:spPr>
            <a:xfrm>
              <a:off x="2462213" y="4781550"/>
              <a:ext cx="219075" cy="342900"/>
            </a:xfrm>
            <a:prstGeom prst="rect">
              <a:avLst/>
            </a:prstGeom>
          </p:spPr>
        </p:pic>
        <p:sp>
          <p:nvSpPr>
            <p:cNvPr id="44" name="Text 12"/>
            <p:cNvSpPr/>
            <p:nvPr/>
          </p:nvSpPr>
          <p:spPr>
            <a:xfrm>
              <a:off x="1733624" y="5334000"/>
              <a:ext cx="1676102" cy="266700"/>
            </a:xfrm>
            <a:prstGeom prst="rect">
              <a:avLst/>
            </a:prstGeom>
            <a:noFill/>
            <a:ln/>
          </p:spPr>
          <p:txBody>
            <a:bodyPr vert="horz" wrap="square" lIns="0" tIns="0" rIns="0" bIns="0" rtlCol="0" anchor="t"/>
            <a:lstStyle/>
            <a:p>
              <a:pPr marL="0" indent="0" algn="ctr">
                <a:lnSpc>
                  <a:spcPts val="2100"/>
                </a:lnSpc>
                <a:buNone/>
              </a:pPr>
              <a:r>
                <a:rPr lang="en-US" sz="1350" b="1" dirty="0">
                  <a:solidFill>
                    <a:srgbClr val="1F2937"/>
                  </a:solidFill>
                  <a:latin typeface="標楷體" panose="03000509000000000000" pitchFamily="65" charset="-120"/>
                  <a:ea typeface="標楷體" panose="03000509000000000000" pitchFamily="65" charset="-120"/>
                  <a:cs typeface="ui-sans-serif" pitchFamily="34" charset="-120"/>
                </a:rPr>
                <a:t>AI推薦與理由生成</a:t>
              </a:r>
              <a:endParaRPr lang="en-US" sz="1350" dirty="0">
                <a:latin typeface="標楷體" panose="03000509000000000000" pitchFamily="65" charset="-120"/>
                <a:ea typeface="標楷體" panose="03000509000000000000" pitchFamily="65" charset="-120"/>
              </a:endParaRPr>
            </a:p>
          </p:txBody>
        </p:sp>
        <p:sp>
          <p:nvSpPr>
            <p:cNvPr id="45" name="Text 13"/>
            <p:cNvSpPr/>
            <p:nvPr/>
          </p:nvSpPr>
          <p:spPr>
            <a:xfrm>
              <a:off x="2093476" y="5638800"/>
              <a:ext cx="956548" cy="190500"/>
            </a:xfrm>
            <a:prstGeom prst="rect">
              <a:avLst/>
            </a:prstGeom>
            <a:noFill/>
            <a:ln/>
          </p:spPr>
          <p:txBody>
            <a:bodyPr vert="horz" wrap="square" lIns="0" tIns="0" rIns="0" bIns="0" rtlCol="0" anchor="t"/>
            <a:lstStyle/>
            <a:p>
              <a:pPr marL="0" indent="0" algn="ctr">
                <a:lnSpc>
                  <a:spcPts val="1500"/>
                </a:lnSpc>
                <a:buNone/>
              </a:pPr>
              <a:r>
                <a:rPr lang="en-US" sz="1050" dirty="0">
                  <a:solidFill>
                    <a:srgbClr val="4B5563"/>
                  </a:solidFill>
                  <a:latin typeface="標楷體" panose="03000509000000000000" pitchFamily="65" charset="-120"/>
                  <a:ea typeface="標楷體" panose="03000509000000000000" pitchFamily="65" charset="-120"/>
                  <a:cs typeface="ui-sans-serif" pitchFamily="34" charset="-120"/>
                </a:rPr>
                <a:t>LLM語意推理</a:t>
              </a:r>
              <a:endParaRPr lang="en-US" sz="1050" dirty="0">
                <a:latin typeface="標楷體" panose="03000509000000000000" pitchFamily="65" charset="-120"/>
                <a:ea typeface="標楷體" panose="03000509000000000000" pitchFamily="65" charset="-120"/>
              </a:endParaRPr>
            </a:p>
          </p:txBody>
        </p:sp>
      </p:grpSp>
      <p:grpSp>
        <p:nvGrpSpPr>
          <p:cNvPr id="54" name="群組 53">
            <a:extLst>
              <a:ext uri="{FF2B5EF4-FFF2-40B4-BE49-F238E27FC236}">
                <a16:creationId xmlns:a16="http://schemas.microsoft.com/office/drawing/2014/main" id="{E10564C0-3F16-EC51-44C2-F791AD62F242}"/>
              </a:ext>
            </a:extLst>
          </p:cNvPr>
          <p:cNvGrpSpPr/>
          <p:nvPr/>
        </p:nvGrpSpPr>
        <p:grpSpPr>
          <a:xfrm>
            <a:off x="8402319" y="3484033"/>
            <a:ext cx="1714500" cy="1714500"/>
            <a:chOff x="3238500" y="3543300"/>
            <a:chExt cx="1714500" cy="1714500"/>
          </a:xfrm>
        </p:grpSpPr>
        <p:pic>
          <p:nvPicPr>
            <p:cNvPr id="20" name="Image 18" descr="preencoded.png"/>
            <p:cNvPicPr>
              <a:picLocks noChangeAspect="1"/>
            </p:cNvPicPr>
            <p:nvPr/>
          </p:nvPicPr>
          <p:blipFill>
            <a:blip r:embed="rId17"/>
            <a:stretch>
              <a:fillRect/>
            </a:stretch>
          </p:blipFill>
          <p:spPr>
            <a:xfrm>
              <a:off x="3238500" y="3543300"/>
              <a:ext cx="1714500" cy="1714500"/>
            </a:xfrm>
            <a:prstGeom prst="rect">
              <a:avLst/>
            </a:prstGeom>
          </p:spPr>
        </p:pic>
        <p:pic>
          <p:nvPicPr>
            <p:cNvPr id="22" name="Image 20" descr="preencoded.png"/>
            <p:cNvPicPr>
              <a:picLocks noChangeAspect="1"/>
            </p:cNvPicPr>
            <p:nvPr/>
          </p:nvPicPr>
          <p:blipFill>
            <a:blip r:embed="rId18"/>
            <a:stretch>
              <a:fillRect/>
            </a:stretch>
          </p:blipFill>
          <p:spPr>
            <a:xfrm>
              <a:off x="3790950" y="3810000"/>
              <a:ext cx="609600" cy="609600"/>
            </a:xfrm>
            <a:prstGeom prst="rect">
              <a:avLst/>
            </a:prstGeom>
          </p:spPr>
        </p:pic>
        <p:pic>
          <p:nvPicPr>
            <p:cNvPr id="23" name="Image 21" descr="preencoded.png"/>
            <p:cNvPicPr>
              <a:picLocks noChangeAspect="1"/>
            </p:cNvPicPr>
            <p:nvPr/>
          </p:nvPicPr>
          <p:blipFill>
            <a:blip r:embed="rId19"/>
            <a:stretch>
              <a:fillRect/>
            </a:stretch>
          </p:blipFill>
          <p:spPr>
            <a:xfrm>
              <a:off x="3933825" y="3943350"/>
              <a:ext cx="323850" cy="342900"/>
            </a:xfrm>
            <a:prstGeom prst="rect">
              <a:avLst/>
            </a:prstGeom>
          </p:spPr>
        </p:pic>
        <p:sp>
          <p:nvSpPr>
            <p:cNvPr id="47" name="Text 15"/>
            <p:cNvSpPr/>
            <p:nvPr/>
          </p:nvSpPr>
          <p:spPr>
            <a:xfrm>
              <a:off x="3478530" y="4495800"/>
              <a:ext cx="1234440" cy="266700"/>
            </a:xfrm>
            <a:prstGeom prst="rect">
              <a:avLst/>
            </a:prstGeom>
            <a:noFill/>
            <a:ln/>
          </p:spPr>
          <p:txBody>
            <a:bodyPr vert="horz" wrap="square" lIns="0" tIns="0" rIns="0" bIns="0" rtlCol="0" anchor="t"/>
            <a:lstStyle/>
            <a:p>
              <a:pPr marL="0" indent="0" algn="ctr">
                <a:lnSpc>
                  <a:spcPts val="2100"/>
                </a:lnSpc>
                <a:buNone/>
              </a:pPr>
              <a:r>
                <a:rPr lang="en-US" sz="1350" b="1" dirty="0">
                  <a:solidFill>
                    <a:srgbClr val="1F2937"/>
                  </a:solidFill>
                  <a:latin typeface="標楷體" panose="03000509000000000000" pitchFamily="65" charset="-120"/>
                  <a:ea typeface="標楷體" panose="03000509000000000000" pitchFamily="65" charset="-120"/>
                  <a:cs typeface="ui-sans-serif" pitchFamily="34" charset="-120"/>
                </a:rPr>
                <a:t>膠囊衣櫥分析</a:t>
              </a:r>
              <a:endParaRPr lang="en-US" sz="1350" dirty="0">
                <a:latin typeface="標楷體" panose="03000509000000000000" pitchFamily="65" charset="-120"/>
                <a:ea typeface="標楷體" panose="03000509000000000000" pitchFamily="65" charset="-120"/>
              </a:endParaRPr>
            </a:p>
          </p:txBody>
        </p:sp>
        <p:sp>
          <p:nvSpPr>
            <p:cNvPr id="48" name="Text 16"/>
            <p:cNvSpPr/>
            <p:nvPr/>
          </p:nvSpPr>
          <p:spPr>
            <a:xfrm>
              <a:off x="3617476" y="4800600"/>
              <a:ext cx="956548" cy="190500"/>
            </a:xfrm>
            <a:prstGeom prst="rect">
              <a:avLst/>
            </a:prstGeom>
            <a:noFill/>
            <a:ln/>
          </p:spPr>
          <p:txBody>
            <a:bodyPr vert="horz" wrap="square" lIns="0" tIns="0" rIns="0" bIns="0" rtlCol="0" anchor="t"/>
            <a:lstStyle/>
            <a:p>
              <a:pPr marL="0" indent="0" algn="ctr">
                <a:lnSpc>
                  <a:spcPts val="1500"/>
                </a:lnSpc>
                <a:buNone/>
              </a:pPr>
              <a:r>
                <a:rPr lang="en-US" sz="1050" dirty="0">
                  <a:solidFill>
                    <a:srgbClr val="4B5563"/>
                  </a:solidFill>
                  <a:latin typeface="標楷體" panose="03000509000000000000" pitchFamily="65" charset="-120"/>
                  <a:ea typeface="標楷體" panose="03000509000000000000" pitchFamily="65" charset="-120"/>
                  <a:cs typeface="ui-sans-serif" pitchFamily="34" charset="-120"/>
                </a:rPr>
                <a:t>LLM宏觀分析</a:t>
              </a:r>
              <a:endParaRPr lang="en-US" sz="1050" dirty="0">
                <a:latin typeface="標楷體" panose="03000509000000000000" pitchFamily="65" charset="-120"/>
                <a:ea typeface="標楷體" panose="03000509000000000000" pitchFamily="65" charset="-120"/>
              </a:endParaRPr>
            </a:p>
          </p:txBody>
        </p:sp>
      </p:grpSp>
      <p:grpSp>
        <p:nvGrpSpPr>
          <p:cNvPr id="59" name="群組 58">
            <a:extLst>
              <a:ext uri="{FF2B5EF4-FFF2-40B4-BE49-F238E27FC236}">
                <a16:creationId xmlns:a16="http://schemas.microsoft.com/office/drawing/2014/main" id="{3BD90262-C372-B817-94AA-56185CC68E9A}"/>
              </a:ext>
            </a:extLst>
          </p:cNvPr>
          <p:cNvGrpSpPr/>
          <p:nvPr/>
        </p:nvGrpSpPr>
        <p:grpSpPr>
          <a:xfrm>
            <a:off x="6784731" y="4682644"/>
            <a:ext cx="1714500" cy="1714500"/>
            <a:chOff x="7239000" y="3543300"/>
            <a:chExt cx="1714500" cy="1714500"/>
          </a:xfrm>
        </p:grpSpPr>
        <p:pic>
          <p:nvPicPr>
            <p:cNvPr id="24" name="Image 22" descr="preencoded.png"/>
            <p:cNvPicPr>
              <a:picLocks noChangeAspect="1"/>
            </p:cNvPicPr>
            <p:nvPr/>
          </p:nvPicPr>
          <p:blipFill>
            <a:blip r:embed="rId20"/>
            <a:stretch>
              <a:fillRect/>
            </a:stretch>
          </p:blipFill>
          <p:spPr>
            <a:xfrm>
              <a:off x="7239000" y="3543300"/>
              <a:ext cx="1714500" cy="1714500"/>
            </a:xfrm>
            <a:prstGeom prst="rect">
              <a:avLst/>
            </a:prstGeom>
          </p:spPr>
        </p:pic>
        <p:pic>
          <p:nvPicPr>
            <p:cNvPr id="26" name="Image 24" descr="preencoded.png"/>
            <p:cNvPicPr>
              <a:picLocks noChangeAspect="1"/>
            </p:cNvPicPr>
            <p:nvPr/>
          </p:nvPicPr>
          <p:blipFill>
            <a:blip r:embed="rId21"/>
            <a:stretch>
              <a:fillRect/>
            </a:stretch>
          </p:blipFill>
          <p:spPr>
            <a:xfrm>
              <a:off x="7791450" y="3810000"/>
              <a:ext cx="609600" cy="609600"/>
            </a:xfrm>
            <a:prstGeom prst="rect">
              <a:avLst/>
            </a:prstGeom>
          </p:spPr>
        </p:pic>
        <p:pic>
          <p:nvPicPr>
            <p:cNvPr id="27" name="Image 25" descr="preencoded.png"/>
            <p:cNvPicPr>
              <a:picLocks noChangeAspect="1"/>
            </p:cNvPicPr>
            <p:nvPr/>
          </p:nvPicPr>
          <p:blipFill>
            <a:blip r:embed="rId22"/>
            <a:stretch>
              <a:fillRect/>
            </a:stretch>
          </p:blipFill>
          <p:spPr>
            <a:xfrm>
              <a:off x="7953375" y="3943350"/>
              <a:ext cx="285750" cy="342900"/>
            </a:xfrm>
            <a:prstGeom prst="rect">
              <a:avLst/>
            </a:prstGeom>
          </p:spPr>
        </p:pic>
        <p:sp>
          <p:nvSpPr>
            <p:cNvPr id="50" name="Text 18"/>
            <p:cNvSpPr/>
            <p:nvPr/>
          </p:nvSpPr>
          <p:spPr>
            <a:xfrm>
              <a:off x="7376160" y="4495800"/>
              <a:ext cx="1440180" cy="266700"/>
            </a:xfrm>
            <a:prstGeom prst="rect">
              <a:avLst/>
            </a:prstGeom>
            <a:noFill/>
            <a:ln/>
          </p:spPr>
          <p:txBody>
            <a:bodyPr vert="horz" wrap="square" lIns="0" tIns="0" rIns="0" bIns="0" rtlCol="0" anchor="t"/>
            <a:lstStyle/>
            <a:p>
              <a:pPr marL="0" indent="0" algn="ctr">
                <a:lnSpc>
                  <a:spcPts val="2100"/>
                </a:lnSpc>
                <a:buNone/>
              </a:pPr>
              <a:r>
                <a:rPr lang="en-US" sz="1350" b="1" dirty="0">
                  <a:solidFill>
                    <a:srgbClr val="1F2937"/>
                  </a:solidFill>
                  <a:latin typeface="標楷體" panose="03000509000000000000" pitchFamily="65" charset="-120"/>
                  <a:ea typeface="標楷體" panose="03000509000000000000" pitchFamily="65" charset="-120"/>
                  <a:cs typeface="ui-sans-serif" pitchFamily="34" charset="-120"/>
                </a:rPr>
                <a:t>偏好學習與反饋</a:t>
              </a:r>
              <a:endParaRPr lang="en-US" sz="1350" dirty="0">
                <a:latin typeface="標楷體" panose="03000509000000000000" pitchFamily="65" charset="-120"/>
                <a:ea typeface="標楷體" panose="03000509000000000000" pitchFamily="65" charset="-120"/>
              </a:endParaRPr>
            </a:p>
          </p:txBody>
        </p:sp>
        <p:sp>
          <p:nvSpPr>
            <p:cNvPr id="51" name="Text 19"/>
            <p:cNvSpPr/>
            <p:nvPr/>
          </p:nvSpPr>
          <p:spPr>
            <a:xfrm>
              <a:off x="7616190" y="4800600"/>
              <a:ext cx="960120" cy="190500"/>
            </a:xfrm>
            <a:prstGeom prst="rect">
              <a:avLst/>
            </a:prstGeom>
            <a:noFill/>
            <a:ln/>
          </p:spPr>
          <p:txBody>
            <a:bodyPr vert="horz" wrap="square" lIns="0" tIns="0" rIns="0" bIns="0" rtlCol="0" anchor="t"/>
            <a:lstStyle/>
            <a:p>
              <a:pPr marL="0" indent="0" algn="ctr">
                <a:lnSpc>
                  <a:spcPts val="1500"/>
                </a:lnSpc>
                <a:buNone/>
              </a:pPr>
              <a:r>
                <a:rPr lang="en-US" sz="1050" dirty="0">
                  <a:solidFill>
                    <a:srgbClr val="4B5563"/>
                  </a:solidFill>
                  <a:latin typeface="標楷體" panose="03000509000000000000" pitchFamily="65" charset="-120"/>
                  <a:ea typeface="標楷體" panose="03000509000000000000" pitchFamily="65" charset="-120"/>
                  <a:cs typeface="ui-sans-serif" pitchFamily="34" charset="-120"/>
                </a:rPr>
                <a:t>行為數據回饋</a:t>
              </a:r>
              <a:endParaRPr lang="en-US" sz="1050" dirty="0">
                <a:latin typeface="標楷體" panose="03000509000000000000" pitchFamily="65" charset="-120"/>
                <a:ea typeface="標楷體" panose="03000509000000000000" pitchFamily="65" charset="-120"/>
              </a:endParaRPr>
            </a:p>
          </p:txBody>
        </p:sp>
      </p:grpSp>
      <p:grpSp>
        <p:nvGrpSpPr>
          <p:cNvPr id="58" name="群組 57">
            <a:extLst>
              <a:ext uri="{FF2B5EF4-FFF2-40B4-BE49-F238E27FC236}">
                <a16:creationId xmlns:a16="http://schemas.microsoft.com/office/drawing/2014/main" id="{02A9FB18-0C08-B96F-553D-DDC5DEDEFCFD}"/>
              </a:ext>
            </a:extLst>
          </p:cNvPr>
          <p:cNvGrpSpPr/>
          <p:nvPr/>
        </p:nvGrpSpPr>
        <p:grpSpPr>
          <a:xfrm>
            <a:off x="4765545" y="3355976"/>
            <a:ext cx="1828800" cy="1828800"/>
            <a:chOff x="5181600" y="3238500"/>
            <a:chExt cx="1828800" cy="1828800"/>
          </a:xfrm>
        </p:grpSpPr>
        <p:pic>
          <p:nvPicPr>
            <p:cNvPr id="28" name="Image 26" descr="preencoded.png"/>
            <p:cNvPicPr>
              <a:picLocks noChangeAspect="1"/>
            </p:cNvPicPr>
            <p:nvPr/>
          </p:nvPicPr>
          <p:blipFill>
            <a:blip r:embed="rId23"/>
            <a:stretch>
              <a:fillRect/>
            </a:stretch>
          </p:blipFill>
          <p:spPr>
            <a:xfrm>
              <a:off x="5181600" y="3238500"/>
              <a:ext cx="1828800" cy="1828800"/>
            </a:xfrm>
            <a:prstGeom prst="rect">
              <a:avLst/>
            </a:prstGeom>
          </p:spPr>
        </p:pic>
        <p:pic>
          <p:nvPicPr>
            <p:cNvPr id="29" name="Image 27" descr="preencoded.png"/>
            <p:cNvPicPr>
              <a:picLocks noChangeAspect="1"/>
            </p:cNvPicPr>
            <p:nvPr/>
          </p:nvPicPr>
          <p:blipFill>
            <a:blip r:embed="rId24"/>
            <a:stretch>
              <a:fillRect/>
            </a:stretch>
          </p:blipFill>
          <p:spPr>
            <a:xfrm>
              <a:off x="5715000" y="3600450"/>
              <a:ext cx="762000" cy="762000"/>
            </a:xfrm>
            <a:prstGeom prst="rect">
              <a:avLst/>
            </a:prstGeom>
          </p:spPr>
        </p:pic>
        <p:pic>
          <p:nvPicPr>
            <p:cNvPr id="30" name="Image 28" descr="preencoded.png"/>
            <p:cNvPicPr>
              <a:picLocks noChangeAspect="1"/>
            </p:cNvPicPr>
            <p:nvPr/>
          </p:nvPicPr>
          <p:blipFill>
            <a:blip r:embed="rId25"/>
            <a:stretch>
              <a:fillRect/>
            </a:stretch>
          </p:blipFill>
          <p:spPr>
            <a:xfrm>
              <a:off x="5924550" y="3790950"/>
              <a:ext cx="342900" cy="381000"/>
            </a:xfrm>
            <a:prstGeom prst="rect">
              <a:avLst/>
            </a:prstGeom>
          </p:spPr>
        </p:pic>
        <p:sp>
          <p:nvSpPr>
            <p:cNvPr id="52" name="Text 20"/>
            <p:cNvSpPr/>
            <p:nvPr/>
          </p:nvSpPr>
          <p:spPr>
            <a:xfrm>
              <a:off x="5638800" y="4438650"/>
              <a:ext cx="914400" cy="266700"/>
            </a:xfrm>
            <a:prstGeom prst="rect">
              <a:avLst/>
            </a:prstGeom>
            <a:noFill/>
            <a:ln/>
          </p:spPr>
          <p:txBody>
            <a:bodyPr vert="horz" wrap="square" lIns="0" tIns="0" rIns="0" bIns="0" rtlCol="0" anchor="t"/>
            <a:lstStyle/>
            <a:p>
              <a:pPr marL="0" indent="0" algn="ctr">
                <a:lnSpc>
                  <a:spcPts val="2100"/>
                </a:lnSpc>
                <a:buNone/>
              </a:pPr>
              <a:r>
                <a:rPr lang="en-US" sz="1500" b="1" dirty="0">
                  <a:solidFill>
                    <a:srgbClr val="1F2937"/>
                  </a:solidFill>
                  <a:latin typeface="標楷體" panose="03000509000000000000" pitchFamily="65" charset="-120"/>
                  <a:ea typeface="標楷體" panose="03000509000000000000" pitchFamily="65" charset="-120"/>
                  <a:cs typeface="ui-sans-serif" pitchFamily="34" charset="-120"/>
                </a:rPr>
                <a:t>閉環流程</a:t>
              </a:r>
              <a:endParaRPr lang="en-US" sz="1500" dirty="0">
                <a:latin typeface="標楷體" panose="03000509000000000000" pitchFamily="65" charset="-120"/>
                <a:ea typeface="標楷體" panose="03000509000000000000" pitchFamily="65" charset="-120"/>
              </a:endParaRPr>
            </a:p>
          </p:txBody>
        </p:sp>
      </p:grpSp>
      <p:sp>
        <p:nvSpPr>
          <p:cNvPr id="53" name="Text 21"/>
          <p:cNvSpPr/>
          <p:nvPr/>
        </p:nvSpPr>
        <p:spPr>
          <a:xfrm>
            <a:off x="11224468" y="6496050"/>
            <a:ext cx="795278" cy="180975"/>
          </a:xfrm>
          <a:prstGeom prst="rect">
            <a:avLst/>
          </a:prstGeom>
          <a:noFill/>
          <a:ln/>
        </p:spPr>
        <p:txBody>
          <a:bodyPr vert="horz" wrap="square" lIns="0" tIns="0" rIns="0" bIns="0" rtlCol="0" anchor="t"/>
          <a:lstStyle/>
          <a:p>
            <a:pPr marL="0" indent="0">
              <a:lnSpc>
                <a:spcPts val="1800"/>
              </a:lnSpc>
              <a:buNone/>
            </a:pPr>
            <a:r>
              <a:rPr lang="en-US" sz="1200" dirty="0">
                <a:solidFill>
                  <a:srgbClr val="4B5563"/>
                </a:solidFill>
                <a:latin typeface="標楷體" panose="03000509000000000000" pitchFamily="65" charset="-120"/>
                <a:ea typeface="標楷體" panose="03000509000000000000" pitchFamily="65" charset="-120"/>
                <a:cs typeface="ui-sans-serif" pitchFamily="34" charset="-120"/>
              </a:rPr>
              <a:t>Page 5/9</a:t>
            </a:r>
            <a:endParaRPr lang="en-US" sz="1200" dirty="0">
              <a:latin typeface="標楷體" panose="03000509000000000000" pitchFamily="65" charset="-120"/>
              <a:ea typeface="標楷體" panose="03000509000000000000" pitchFamily="65" charset="-120"/>
            </a:endParaRPr>
          </a:p>
        </p:txBody>
      </p:sp>
      <p:grpSp>
        <p:nvGrpSpPr>
          <p:cNvPr id="56" name="群組 55">
            <a:extLst>
              <a:ext uri="{FF2B5EF4-FFF2-40B4-BE49-F238E27FC236}">
                <a16:creationId xmlns:a16="http://schemas.microsoft.com/office/drawing/2014/main" id="{2519499B-EA50-FF2F-5306-421B844DF08B}"/>
              </a:ext>
            </a:extLst>
          </p:cNvPr>
          <p:cNvGrpSpPr/>
          <p:nvPr/>
        </p:nvGrpSpPr>
        <p:grpSpPr>
          <a:xfrm>
            <a:off x="3870143" y="2061104"/>
            <a:ext cx="384598" cy="411691"/>
            <a:chOff x="3206401" y="2030942"/>
            <a:chExt cx="384598" cy="411691"/>
          </a:xfrm>
        </p:grpSpPr>
        <p:pic>
          <p:nvPicPr>
            <p:cNvPr id="5" name="Image 3" descr="preencoded.png"/>
            <p:cNvPicPr>
              <a:picLocks noChangeAspect="1"/>
            </p:cNvPicPr>
            <p:nvPr/>
          </p:nvPicPr>
          <p:blipFill>
            <a:blip r:embed="rId26"/>
            <a:stretch>
              <a:fillRect/>
            </a:stretch>
          </p:blipFill>
          <p:spPr>
            <a:xfrm>
              <a:off x="3209999" y="2030942"/>
              <a:ext cx="381000" cy="381000"/>
            </a:xfrm>
            <a:prstGeom prst="rect">
              <a:avLst/>
            </a:prstGeom>
          </p:spPr>
        </p:pic>
        <p:sp>
          <p:nvSpPr>
            <p:cNvPr id="34" name="Text 2"/>
            <p:cNvSpPr/>
            <p:nvPr/>
          </p:nvSpPr>
          <p:spPr>
            <a:xfrm>
              <a:off x="3206401" y="2061633"/>
              <a:ext cx="381000" cy="381000"/>
            </a:xfrm>
            <a:prstGeom prst="rect">
              <a:avLst/>
            </a:prstGeom>
            <a:noFill/>
            <a:ln/>
          </p:spPr>
          <p:txBody>
            <a:bodyPr vert="horz" wrap="square" lIns="0" tIns="0" rIns="0" bIns="0" rtlCol="0" anchor="t"/>
            <a:lstStyle/>
            <a:p>
              <a:pPr marL="0" indent="0" algn="ctr">
                <a:lnSpc>
                  <a:spcPts val="2250"/>
                </a:lnSpc>
                <a:buNone/>
              </a:pPr>
              <a:r>
                <a:rPr lang="en-US" sz="1500" b="1" dirty="0">
                  <a:solidFill>
                    <a:srgbClr val="FFFFFF"/>
                  </a:solidFill>
                  <a:latin typeface="標楷體" panose="03000509000000000000" pitchFamily="65" charset="-120"/>
                  <a:ea typeface="標楷體" panose="03000509000000000000" pitchFamily="65" charset="-120"/>
                  <a:cs typeface="ui-sans-serif" pitchFamily="34" charset="-120"/>
                </a:rPr>
                <a:t>1</a:t>
              </a:r>
              <a:endParaRPr lang="en-US" sz="1500" dirty="0">
                <a:latin typeface="標楷體" panose="03000509000000000000" pitchFamily="65" charset="-120"/>
                <a:ea typeface="標楷體" panose="03000509000000000000" pitchFamily="65" charset="-120"/>
              </a:endParaRPr>
            </a:p>
          </p:txBody>
        </p:sp>
      </p:grpSp>
      <p:grpSp>
        <p:nvGrpSpPr>
          <p:cNvPr id="62" name="群組 61">
            <a:extLst>
              <a:ext uri="{FF2B5EF4-FFF2-40B4-BE49-F238E27FC236}">
                <a16:creationId xmlns:a16="http://schemas.microsoft.com/office/drawing/2014/main" id="{7CBE436B-E878-85E8-5D8C-0D463A5243E3}"/>
              </a:ext>
            </a:extLst>
          </p:cNvPr>
          <p:cNvGrpSpPr/>
          <p:nvPr/>
        </p:nvGrpSpPr>
        <p:grpSpPr>
          <a:xfrm>
            <a:off x="2211305" y="3367615"/>
            <a:ext cx="384598" cy="400050"/>
            <a:chOff x="10235777" y="2047875"/>
            <a:chExt cx="384598" cy="400050"/>
          </a:xfrm>
        </p:grpSpPr>
        <p:pic>
          <p:nvPicPr>
            <p:cNvPr id="9" name="Image 7" descr="preencoded.png"/>
            <p:cNvPicPr>
              <a:picLocks noChangeAspect="1"/>
            </p:cNvPicPr>
            <p:nvPr/>
          </p:nvPicPr>
          <p:blipFill>
            <a:blip r:embed="rId27"/>
            <a:stretch>
              <a:fillRect/>
            </a:stretch>
          </p:blipFill>
          <p:spPr>
            <a:xfrm>
              <a:off x="10235777" y="2047875"/>
              <a:ext cx="381000" cy="381000"/>
            </a:xfrm>
            <a:prstGeom prst="rect">
              <a:avLst/>
            </a:prstGeom>
          </p:spPr>
        </p:pic>
        <p:sp>
          <p:nvSpPr>
            <p:cNvPr id="37" name="Text 5"/>
            <p:cNvSpPr/>
            <p:nvPr/>
          </p:nvSpPr>
          <p:spPr>
            <a:xfrm>
              <a:off x="10239375" y="2066925"/>
              <a:ext cx="381000" cy="381000"/>
            </a:xfrm>
            <a:prstGeom prst="rect">
              <a:avLst/>
            </a:prstGeom>
            <a:noFill/>
            <a:ln/>
          </p:spPr>
          <p:txBody>
            <a:bodyPr vert="horz" wrap="square" lIns="0" tIns="0" rIns="0" bIns="0" rtlCol="0" anchor="t"/>
            <a:lstStyle/>
            <a:p>
              <a:pPr marL="0" indent="0" algn="ctr">
                <a:lnSpc>
                  <a:spcPts val="2250"/>
                </a:lnSpc>
                <a:buNone/>
              </a:pPr>
              <a:r>
                <a:rPr lang="en-US" sz="1500" b="1" dirty="0">
                  <a:solidFill>
                    <a:srgbClr val="FFFFFF"/>
                  </a:solidFill>
                  <a:latin typeface="標楷體" panose="03000509000000000000" pitchFamily="65" charset="-120"/>
                  <a:ea typeface="標楷體" panose="03000509000000000000" pitchFamily="65" charset="-120"/>
                  <a:cs typeface="ui-sans-serif" pitchFamily="34" charset="-120"/>
                </a:rPr>
                <a:t>2</a:t>
              </a:r>
              <a:endParaRPr lang="en-US" sz="1500" dirty="0">
                <a:latin typeface="標楷體" panose="03000509000000000000" pitchFamily="65" charset="-120"/>
                <a:ea typeface="標楷體" panose="03000509000000000000" pitchFamily="65" charset="-120"/>
              </a:endParaRPr>
            </a:p>
          </p:txBody>
        </p:sp>
      </p:grpSp>
      <p:grpSp>
        <p:nvGrpSpPr>
          <p:cNvPr id="60" name="群組 59">
            <a:extLst>
              <a:ext uri="{FF2B5EF4-FFF2-40B4-BE49-F238E27FC236}">
                <a16:creationId xmlns:a16="http://schemas.microsoft.com/office/drawing/2014/main" id="{E3A1FF00-F4DE-3A48-8F46-14AE0A8E517F}"/>
              </a:ext>
            </a:extLst>
          </p:cNvPr>
          <p:cNvGrpSpPr/>
          <p:nvPr/>
        </p:nvGrpSpPr>
        <p:grpSpPr>
          <a:xfrm>
            <a:off x="7996311" y="4622704"/>
            <a:ext cx="381000" cy="409575"/>
            <a:chOff x="8715375" y="3400425"/>
            <a:chExt cx="381000" cy="409575"/>
          </a:xfrm>
        </p:grpSpPr>
        <p:pic>
          <p:nvPicPr>
            <p:cNvPr id="25" name="Image 23" descr="preencoded.png"/>
            <p:cNvPicPr>
              <a:picLocks noChangeAspect="1"/>
            </p:cNvPicPr>
            <p:nvPr/>
          </p:nvPicPr>
          <p:blipFill>
            <a:blip r:embed="rId28"/>
            <a:stretch>
              <a:fillRect/>
            </a:stretch>
          </p:blipFill>
          <p:spPr>
            <a:xfrm>
              <a:off x="8715375" y="3400425"/>
              <a:ext cx="381000" cy="381000"/>
            </a:xfrm>
            <a:prstGeom prst="rect">
              <a:avLst/>
            </a:prstGeom>
          </p:spPr>
        </p:pic>
        <p:sp>
          <p:nvSpPr>
            <p:cNvPr id="49" name="Text 17"/>
            <p:cNvSpPr/>
            <p:nvPr/>
          </p:nvSpPr>
          <p:spPr>
            <a:xfrm>
              <a:off x="8715375" y="3429000"/>
              <a:ext cx="381000" cy="381000"/>
            </a:xfrm>
            <a:prstGeom prst="rect">
              <a:avLst/>
            </a:prstGeom>
            <a:noFill/>
            <a:ln/>
          </p:spPr>
          <p:txBody>
            <a:bodyPr vert="horz" wrap="square" lIns="0" tIns="0" rIns="0" bIns="0" rtlCol="0" anchor="t"/>
            <a:lstStyle/>
            <a:p>
              <a:pPr marL="0" indent="0" algn="ctr">
                <a:lnSpc>
                  <a:spcPts val="2250"/>
                </a:lnSpc>
                <a:buNone/>
              </a:pPr>
              <a:r>
                <a:rPr lang="en-US" sz="1500" b="1" dirty="0">
                  <a:solidFill>
                    <a:srgbClr val="FFFFFF"/>
                  </a:solidFill>
                  <a:latin typeface="標楷體" panose="03000509000000000000" pitchFamily="65" charset="-120"/>
                  <a:ea typeface="標楷體" panose="03000509000000000000" pitchFamily="65" charset="-120"/>
                  <a:cs typeface="ui-sans-serif" pitchFamily="34" charset="-120"/>
                </a:rPr>
                <a:t>6</a:t>
              </a:r>
              <a:endParaRPr lang="en-US" sz="1500" dirty="0">
                <a:latin typeface="標楷體" panose="03000509000000000000" pitchFamily="65" charset="-120"/>
                <a:ea typeface="標楷體" panose="03000509000000000000" pitchFamily="65" charset="-120"/>
              </a:endParaRPr>
            </a:p>
          </p:txBody>
        </p:sp>
      </p:grpSp>
      <p:grpSp>
        <p:nvGrpSpPr>
          <p:cNvPr id="64" name="群組 63">
            <a:extLst>
              <a:ext uri="{FF2B5EF4-FFF2-40B4-BE49-F238E27FC236}">
                <a16:creationId xmlns:a16="http://schemas.microsoft.com/office/drawing/2014/main" id="{74426D66-6F35-3D77-420B-922BB4933AD1}"/>
              </a:ext>
            </a:extLst>
          </p:cNvPr>
          <p:cNvGrpSpPr/>
          <p:nvPr/>
        </p:nvGrpSpPr>
        <p:grpSpPr>
          <a:xfrm>
            <a:off x="3866739" y="4621742"/>
            <a:ext cx="393457" cy="415925"/>
            <a:chOff x="10226918" y="4203700"/>
            <a:chExt cx="393457" cy="415925"/>
          </a:xfrm>
        </p:grpSpPr>
        <p:pic>
          <p:nvPicPr>
            <p:cNvPr id="13" name="Image 11" descr="preencoded.png"/>
            <p:cNvPicPr>
              <a:picLocks noChangeAspect="1"/>
            </p:cNvPicPr>
            <p:nvPr/>
          </p:nvPicPr>
          <p:blipFill>
            <a:blip r:embed="rId29"/>
            <a:stretch>
              <a:fillRect/>
            </a:stretch>
          </p:blipFill>
          <p:spPr>
            <a:xfrm>
              <a:off x="10226918" y="4203700"/>
              <a:ext cx="381000" cy="381000"/>
            </a:xfrm>
            <a:prstGeom prst="rect">
              <a:avLst/>
            </a:prstGeom>
          </p:spPr>
        </p:pic>
        <p:sp>
          <p:nvSpPr>
            <p:cNvPr id="40" name="Text 8"/>
            <p:cNvSpPr/>
            <p:nvPr/>
          </p:nvSpPr>
          <p:spPr>
            <a:xfrm>
              <a:off x="10239375" y="4238625"/>
              <a:ext cx="381000" cy="381000"/>
            </a:xfrm>
            <a:prstGeom prst="rect">
              <a:avLst/>
            </a:prstGeom>
            <a:noFill/>
            <a:ln/>
          </p:spPr>
          <p:txBody>
            <a:bodyPr vert="horz" wrap="square" lIns="0" tIns="0" rIns="0" bIns="0" rtlCol="0" anchor="t"/>
            <a:lstStyle/>
            <a:p>
              <a:pPr marL="0" indent="0" algn="ctr">
                <a:lnSpc>
                  <a:spcPts val="2250"/>
                </a:lnSpc>
                <a:buNone/>
              </a:pPr>
              <a:r>
                <a:rPr lang="en-US" sz="1500" b="1" dirty="0">
                  <a:solidFill>
                    <a:srgbClr val="FFFFFF"/>
                  </a:solidFill>
                  <a:latin typeface="標楷體" panose="03000509000000000000" pitchFamily="65" charset="-120"/>
                  <a:ea typeface="標楷體" panose="03000509000000000000" pitchFamily="65" charset="-120"/>
                  <a:cs typeface="ui-sans-serif" pitchFamily="34" charset="-120"/>
                </a:rPr>
                <a:t>3</a:t>
              </a:r>
              <a:endParaRPr lang="en-US" sz="1500" dirty="0">
                <a:latin typeface="標楷體" panose="03000509000000000000" pitchFamily="65" charset="-120"/>
                <a:ea typeface="標楷體" panose="03000509000000000000" pitchFamily="65" charset="-120"/>
              </a:endParaRPr>
            </a:p>
          </p:txBody>
        </p:sp>
      </p:grpSp>
      <p:grpSp>
        <p:nvGrpSpPr>
          <p:cNvPr id="57" name="群組 56">
            <a:extLst>
              <a:ext uri="{FF2B5EF4-FFF2-40B4-BE49-F238E27FC236}">
                <a16:creationId xmlns:a16="http://schemas.microsoft.com/office/drawing/2014/main" id="{346D4672-407D-9702-3956-221728342F95}"/>
              </a:ext>
            </a:extLst>
          </p:cNvPr>
          <p:cNvGrpSpPr/>
          <p:nvPr/>
        </p:nvGrpSpPr>
        <p:grpSpPr>
          <a:xfrm>
            <a:off x="9564369" y="3404638"/>
            <a:ext cx="387351" cy="409575"/>
            <a:chOff x="4714875" y="3400425"/>
            <a:chExt cx="387351" cy="409575"/>
          </a:xfrm>
        </p:grpSpPr>
        <p:pic>
          <p:nvPicPr>
            <p:cNvPr id="21" name="Image 19" descr="preencoded.png"/>
            <p:cNvPicPr>
              <a:picLocks noChangeAspect="1"/>
            </p:cNvPicPr>
            <p:nvPr/>
          </p:nvPicPr>
          <p:blipFill>
            <a:blip r:embed="rId30"/>
            <a:stretch>
              <a:fillRect/>
            </a:stretch>
          </p:blipFill>
          <p:spPr>
            <a:xfrm>
              <a:off x="4714875" y="3400425"/>
              <a:ext cx="381000" cy="381000"/>
            </a:xfrm>
            <a:prstGeom prst="rect">
              <a:avLst/>
            </a:prstGeom>
          </p:spPr>
        </p:pic>
        <p:sp>
          <p:nvSpPr>
            <p:cNvPr id="46" name="Text 14"/>
            <p:cNvSpPr/>
            <p:nvPr/>
          </p:nvSpPr>
          <p:spPr>
            <a:xfrm>
              <a:off x="4721226" y="3429000"/>
              <a:ext cx="381000" cy="381000"/>
            </a:xfrm>
            <a:prstGeom prst="rect">
              <a:avLst/>
            </a:prstGeom>
            <a:noFill/>
            <a:ln/>
          </p:spPr>
          <p:txBody>
            <a:bodyPr vert="horz" wrap="square" lIns="0" tIns="0" rIns="0" bIns="0" rtlCol="0" anchor="t"/>
            <a:lstStyle/>
            <a:p>
              <a:pPr marL="0" indent="0" algn="ctr">
                <a:lnSpc>
                  <a:spcPts val="2250"/>
                </a:lnSpc>
                <a:buNone/>
              </a:pPr>
              <a:r>
                <a:rPr lang="en-US" sz="1500" b="1" dirty="0">
                  <a:solidFill>
                    <a:srgbClr val="FFFFFF"/>
                  </a:solidFill>
                  <a:latin typeface="標楷體" panose="03000509000000000000" pitchFamily="65" charset="-120"/>
                  <a:ea typeface="標楷體" panose="03000509000000000000" pitchFamily="65" charset="-120"/>
                  <a:cs typeface="ui-sans-serif" pitchFamily="34" charset="-120"/>
                </a:rPr>
                <a:t>5</a:t>
              </a:r>
              <a:endParaRPr lang="en-US" sz="1500" dirty="0">
                <a:latin typeface="標楷體" panose="03000509000000000000" pitchFamily="65" charset="-120"/>
                <a:ea typeface="標楷體" panose="03000509000000000000" pitchFamily="65" charset="-120"/>
              </a:endParaRPr>
            </a:p>
          </p:txBody>
        </p:sp>
      </p:grpSp>
      <p:grpSp>
        <p:nvGrpSpPr>
          <p:cNvPr id="55" name="群組 54">
            <a:extLst>
              <a:ext uri="{FF2B5EF4-FFF2-40B4-BE49-F238E27FC236}">
                <a16:creationId xmlns:a16="http://schemas.microsoft.com/office/drawing/2014/main" id="{CF360269-9F24-3C2A-E4FD-BF90E306CAAB}"/>
              </a:ext>
            </a:extLst>
          </p:cNvPr>
          <p:cNvGrpSpPr/>
          <p:nvPr/>
        </p:nvGrpSpPr>
        <p:grpSpPr>
          <a:xfrm>
            <a:off x="8229600" y="2055283"/>
            <a:ext cx="384810" cy="403225"/>
            <a:chOff x="3514725" y="4360333"/>
            <a:chExt cx="384810" cy="403225"/>
          </a:xfrm>
        </p:grpSpPr>
        <p:pic>
          <p:nvPicPr>
            <p:cNvPr id="17" name="Image 15" descr="preencoded.png"/>
            <p:cNvPicPr>
              <a:picLocks noChangeAspect="1"/>
            </p:cNvPicPr>
            <p:nvPr/>
          </p:nvPicPr>
          <p:blipFill>
            <a:blip r:embed="rId31"/>
            <a:stretch>
              <a:fillRect/>
            </a:stretch>
          </p:blipFill>
          <p:spPr>
            <a:xfrm>
              <a:off x="3518535" y="4360333"/>
              <a:ext cx="381000" cy="381000"/>
            </a:xfrm>
            <a:prstGeom prst="rect">
              <a:avLst/>
            </a:prstGeom>
          </p:spPr>
        </p:pic>
        <p:sp>
          <p:nvSpPr>
            <p:cNvPr id="43" name="Text 11"/>
            <p:cNvSpPr/>
            <p:nvPr/>
          </p:nvSpPr>
          <p:spPr>
            <a:xfrm>
              <a:off x="3514725" y="4382558"/>
              <a:ext cx="381000" cy="381000"/>
            </a:xfrm>
            <a:prstGeom prst="rect">
              <a:avLst/>
            </a:prstGeom>
            <a:noFill/>
            <a:ln/>
          </p:spPr>
          <p:txBody>
            <a:bodyPr vert="horz" wrap="square" lIns="0" tIns="0" rIns="0" bIns="0" rtlCol="0" anchor="t"/>
            <a:lstStyle/>
            <a:p>
              <a:pPr marL="0" indent="0" algn="ctr">
                <a:lnSpc>
                  <a:spcPts val="2250"/>
                </a:lnSpc>
                <a:buNone/>
              </a:pPr>
              <a:r>
                <a:rPr lang="en-US" sz="1500" b="1" dirty="0">
                  <a:solidFill>
                    <a:srgbClr val="FFFFFF"/>
                  </a:solidFill>
                  <a:latin typeface="標楷體" panose="03000509000000000000" pitchFamily="65" charset="-120"/>
                  <a:ea typeface="標楷體" panose="03000509000000000000" pitchFamily="65" charset="-120"/>
                  <a:cs typeface="ui-sans-serif" pitchFamily="34" charset="-120"/>
                </a:rPr>
                <a:t>4</a:t>
              </a:r>
              <a:endParaRPr lang="en-US" sz="1500" dirty="0">
                <a:latin typeface="標楷體" panose="03000509000000000000" pitchFamily="65" charset="-120"/>
                <a:ea typeface="標楷體" panose="03000509000000000000" pitchFamily="65" charset="-120"/>
              </a:endParaRPr>
            </a:p>
          </p:txBody>
        </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2192000" cy="6858000"/>
          </a:xfrm>
          <a:prstGeom prst="rect">
            <a:avLst/>
          </a:prstGeom>
        </p:spPr>
      </p:pic>
      <p:pic>
        <p:nvPicPr>
          <p:cNvPr id="3" name="Image 1" descr="preencoded.png"/>
          <p:cNvPicPr>
            <a:picLocks noChangeAspect="1"/>
          </p:cNvPicPr>
          <p:nvPr/>
        </p:nvPicPr>
        <p:blipFill>
          <a:blip r:embed="rId4"/>
          <a:stretch>
            <a:fillRect/>
          </a:stretch>
        </p:blipFill>
        <p:spPr>
          <a:xfrm>
            <a:off x="0" y="0"/>
            <a:ext cx="12192000" cy="647700"/>
          </a:xfrm>
          <a:prstGeom prst="rect">
            <a:avLst/>
          </a:prstGeom>
        </p:spPr>
      </p:pic>
      <p:pic>
        <p:nvPicPr>
          <p:cNvPr id="4" name="Image 2" descr="preencoded.png"/>
          <p:cNvPicPr>
            <a:picLocks noChangeAspect="1"/>
          </p:cNvPicPr>
          <p:nvPr/>
        </p:nvPicPr>
        <p:blipFill>
          <a:blip r:embed="rId5"/>
          <a:stretch>
            <a:fillRect/>
          </a:stretch>
        </p:blipFill>
        <p:spPr>
          <a:xfrm>
            <a:off x="457200" y="1371600"/>
            <a:ext cx="5524500" cy="2362200"/>
          </a:xfrm>
          <a:prstGeom prst="rect">
            <a:avLst/>
          </a:prstGeom>
        </p:spPr>
      </p:pic>
      <p:pic>
        <p:nvPicPr>
          <p:cNvPr id="5" name="Image 3" descr="preencoded.png"/>
          <p:cNvPicPr>
            <a:picLocks noChangeAspect="1"/>
          </p:cNvPicPr>
          <p:nvPr/>
        </p:nvPicPr>
        <p:blipFill>
          <a:blip r:embed="rId6"/>
          <a:stretch>
            <a:fillRect/>
          </a:stretch>
        </p:blipFill>
        <p:spPr>
          <a:xfrm>
            <a:off x="685800" y="2076450"/>
            <a:ext cx="609600" cy="609600"/>
          </a:xfrm>
          <a:prstGeom prst="rect">
            <a:avLst/>
          </a:prstGeom>
        </p:spPr>
      </p:pic>
      <p:pic>
        <p:nvPicPr>
          <p:cNvPr id="6" name="Image 4" descr="preencoded.png"/>
          <p:cNvPicPr>
            <a:picLocks noChangeAspect="1"/>
          </p:cNvPicPr>
          <p:nvPr/>
        </p:nvPicPr>
        <p:blipFill>
          <a:blip r:embed="rId7"/>
          <a:stretch>
            <a:fillRect/>
          </a:stretch>
        </p:blipFill>
        <p:spPr>
          <a:xfrm>
            <a:off x="809625" y="2209800"/>
            <a:ext cx="361950" cy="342900"/>
          </a:xfrm>
          <a:prstGeom prst="rect">
            <a:avLst/>
          </a:prstGeom>
        </p:spPr>
      </p:pic>
      <p:pic>
        <p:nvPicPr>
          <p:cNvPr id="7" name="Image 5" descr="preencoded.png"/>
          <p:cNvPicPr>
            <a:picLocks noChangeAspect="1"/>
          </p:cNvPicPr>
          <p:nvPr/>
        </p:nvPicPr>
        <p:blipFill>
          <a:blip r:embed="rId5"/>
          <a:stretch>
            <a:fillRect/>
          </a:stretch>
        </p:blipFill>
        <p:spPr>
          <a:xfrm>
            <a:off x="6210300" y="1371600"/>
            <a:ext cx="5524500" cy="2362200"/>
          </a:xfrm>
          <a:prstGeom prst="rect">
            <a:avLst/>
          </a:prstGeom>
        </p:spPr>
      </p:pic>
      <p:pic>
        <p:nvPicPr>
          <p:cNvPr id="8" name="Image 6" descr="preencoded.png"/>
          <p:cNvPicPr>
            <a:picLocks noChangeAspect="1"/>
          </p:cNvPicPr>
          <p:nvPr/>
        </p:nvPicPr>
        <p:blipFill>
          <a:blip r:embed="rId8"/>
          <a:stretch>
            <a:fillRect/>
          </a:stretch>
        </p:blipFill>
        <p:spPr>
          <a:xfrm>
            <a:off x="6438900" y="2209800"/>
            <a:ext cx="609600" cy="609600"/>
          </a:xfrm>
          <a:prstGeom prst="rect">
            <a:avLst/>
          </a:prstGeom>
        </p:spPr>
      </p:pic>
      <p:pic>
        <p:nvPicPr>
          <p:cNvPr id="9" name="Image 7" descr="preencoded.png"/>
          <p:cNvPicPr>
            <a:picLocks noChangeAspect="1"/>
          </p:cNvPicPr>
          <p:nvPr/>
        </p:nvPicPr>
        <p:blipFill>
          <a:blip r:embed="rId9"/>
          <a:stretch>
            <a:fillRect/>
          </a:stretch>
        </p:blipFill>
        <p:spPr>
          <a:xfrm>
            <a:off x="6634163" y="2343150"/>
            <a:ext cx="219075" cy="342900"/>
          </a:xfrm>
          <a:prstGeom prst="rect">
            <a:avLst/>
          </a:prstGeom>
        </p:spPr>
      </p:pic>
      <p:pic>
        <p:nvPicPr>
          <p:cNvPr id="10" name="Image 8" descr="preencoded.png"/>
          <p:cNvPicPr>
            <a:picLocks noChangeAspect="1"/>
          </p:cNvPicPr>
          <p:nvPr/>
        </p:nvPicPr>
        <p:blipFill>
          <a:blip r:embed="rId5"/>
          <a:stretch>
            <a:fillRect/>
          </a:stretch>
        </p:blipFill>
        <p:spPr>
          <a:xfrm>
            <a:off x="457200" y="3962400"/>
            <a:ext cx="5524500" cy="2362200"/>
          </a:xfrm>
          <a:prstGeom prst="rect">
            <a:avLst/>
          </a:prstGeom>
        </p:spPr>
      </p:pic>
      <p:pic>
        <p:nvPicPr>
          <p:cNvPr id="11" name="Image 9" descr="preencoded.png"/>
          <p:cNvPicPr>
            <a:picLocks noChangeAspect="1"/>
          </p:cNvPicPr>
          <p:nvPr/>
        </p:nvPicPr>
        <p:blipFill>
          <a:blip r:embed="rId10"/>
          <a:stretch>
            <a:fillRect/>
          </a:stretch>
        </p:blipFill>
        <p:spPr>
          <a:xfrm>
            <a:off x="685800" y="4629150"/>
            <a:ext cx="609600" cy="609600"/>
          </a:xfrm>
          <a:prstGeom prst="rect">
            <a:avLst/>
          </a:prstGeom>
        </p:spPr>
      </p:pic>
      <p:pic>
        <p:nvPicPr>
          <p:cNvPr id="12" name="Image 10" descr="preencoded.png"/>
          <p:cNvPicPr>
            <a:picLocks noChangeAspect="1"/>
          </p:cNvPicPr>
          <p:nvPr/>
        </p:nvPicPr>
        <p:blipFill>
          <a:blip r:embed="rId11"/>
          <a:stretch>
            <a:fillRect/>
          </a:stretch>
        </p:blipFill>
        <p:spPr>
          <a:xfrm>
            <a:off x="881063" y="4762500"/>
            <a:ext cx="219075" cy="342900"/>
          </a:xfrm>
          <a:prstGeom prst="rect">
            <a:avLst/>
          </a:prstGeom>
        </p:spPr>
      </p:pic>
      <p:pic>
        <p:nvPicPr>
          <p:cNvPr id="13" name="Image 11" descr="preencoded.png"/>
          <p:cNvPicPr>
            <a:picLocks noChangeAspect="1"/>
          </p:cNvPicPr>
          <p:nvPr/>
        </p:nvPicPr>
        <p:blipFill>
          <a:blip r:embed="rId5"/>
          <a:stretch>
            <a:fillRect/>
          </a:stretch>
        </p:blipFill>
        <p:spPr>
          <a:xfrm>
            <a:off x="6210300" y="3962400"/>
            <a:ext cx="5524500" cy="2362200"/>
          </a:xfrm>
          <a:prstGeom prst="rect">
            <a:avLst/>
          </a:prstGeom>
        </p:spPr>
      </p:pic>
      <p:pic>
        <p:nvPicPr>
          <p:cNvPr id="14" name="Image 12" descr="preencoded.png"/>
          <p:cNvPicPr>
            <a:picLocks noChangeAspect="1"/>
          </p:cNvPicPr>
          <p:nvPr/>
        </p:nvPicPr>
        <p:blipFill>
          <a:blip r:embed="rId12"/>
          <a:stretch>
            <a:fillRect/>
          </a:stretch>
        </p:blipFill>
        <p:spPr>
          <a:xfrm>
            <a:off x="6438900" y="4629150"/>
            <a:ext cx="609600" cy="609600"/>
          </a:xfrm>
          <a:prstGeom prst="rect">
            <a:avLst/>
          </a:prstGeom>
        </p:spPr>
      </p:pic>
      <p:pic>
        <p:nvPicPr>
          <p:cNvPr id="15" name="Image 13" descr="preencoded.png"/>
          <p:cNvPicPr>
            <a:picLocks noChangeAspect="1"/>
          </p:cNvPicPr>
          <p:nvPr/>
        </p:nvPicPr>
        <p:blipFill>
          <a:blip r:embed="rId13"/>
          <a:stretch>
            <a:fillRect/>
          </a:stretch>
        </p:blipFill>
        <p:spPr>
          <a:xfrm>
            <a:off x="6600825" y="4762500"/>
            <a:ext cx="285750" cy="342900"/>
          </a:xfrm>
          <a:prstGeom prst="rect">
            <a:avLst/>
          </a:prstGeom>
        </p:spPr>
      </p:pic>
      <p:sp>
        <p:nvSpPr>
          <p:cNvPr id="16" name="Text 0"/>
          <p:cNvSpPr/>
          <p:nvPr/>
        </p:nvSpPr>
        <p:spPr>
          <a:xfrm>
            <a:off x="457200" y="152400"/>
            <a:ext cx="11277600" cy="342900"/>
          </a:xfrm>
          <a:prstGeom prst="rect">
            <a:avLst/>
          </a:prstGeom>
          <a:noFill/>
          <a:ln/>
        </p:spPr>
        <p:txBody>
          <a:bodyPr vert="horz" wrap="square" lIns="0" tIns="0" rIns="0" bIns="0" rtlCol="0" anchor="t"/>
          <a:lstStyle/>
          <a:p>
            <a:pPr marL="0" indent="0">
              <a:lnSpc>
                <a:spcPts val="2700"/>
              </a:lnSpc>
              <a:buNone/>
            </a:pPr>
            <a:r>
              <a:rPr lang="en-US" sz="2250" b="1" dirty="0">
                <a:solidFill>
                  <a:srgbClr val="FFFFFF"/>
                </a:solidFill>
                <a:latin typeface="標楷體" panose="03000509000000000000" pitchFamily="65" charset="-120"/>
                <a:ea typeface="標楷體" panose="03000509000000000000" pitchFamily="65" charset="-120"/>
                <a:cs typeface="ui-sans-serif" pitchFamily="34" charset="-120"/>
              </a:rPr>
              <a:t>執行方向：四大設計原理</a:t>
            </a:r>
            <a:endParaRPr lang="en-US" sz="2250" dirty="0">
              <a:latin typeface="標楷體" panose="03000509000000000000" pitchFamily="65" charset="-120"/>
              <a:ea typeface="標楷體" panose="03000509000000000000" pitchFamily="65" charset="-120"/>
            </a:endParaRPr>
          </a:p>
        </p:txBody>
      </p:sp>
      <p:sp>
        <p:nvSpPr>
          <p:cNvPr id="17" name="Text 1"/>
          <p:cNvSpPr/>
          <p:nvPr/>
        </p:nvSpPr>
        <p:spPr>
          <a:xfrm>
            <a:off x="457200" y="876300"/>
            <a:ext cx="13533120" cy="266700"/>
          </a:xfrm>
          <a:prstGeom prst="rect">
            <a:avLst/>
          </a:prstGeom>
          <a:noFill/>
          <a:ln/>
        </p:spPr>
        <p:txBody>
          <a:bodyPr vert="horz" wrap="square" lIns="0" tIns="0" rIns="0" bIns="0" rtlCol="0" anchor="t"/>
          <a:lstStyle/>
          <a:p>
            <a:pPr marL="0" indent="0">
              <a:lnSpc>
                <a:spcPts val="2100"/>
              </a:lnSpc>
              <a:buNone/>
            </a:pPr>
            <a:r>
              <a:rPr lang="en-US" sz="1500" dirty="0">
                <a:solidFill>
                  <a:srgbClr val="374151"/>
                </a:solidFill>
                <a:latin typeface="標楷體" panose="03000509000000000000" pitchFamily="65" charset="-120"/>
                <a:ea typeface="標楷體" panose="03000509000000000000" pitchFamily="65" charset="-120"/>
                <a:cs typeface="ui-sans-serif" pitchFamily="34" charset="-120"/>
              </a:rPr>
              <a:t>WearWise的設計根植於多個成熟的理論與架構，確保了其科學性、實用性與前瞻性</a:t>
            </a:r>
            <a:endParaRPr lang="en-US" sz="1500" dirty="0">
              <a:latin typeface="標楷體" panose="03000509000000000000" pitchFamily="65" charset="-120"/>
              <a:ea typeface="標楷體" panose="03000509000000000000" pitchFamily="65" charset="-120"/>
            </a:endParaRPr>
          </a:p>
        </p:txBody>
      </p:sp>
      <p:sp>
        <p:nvSpPr>
          <p:cNvPr id="18" name="Text 2"/>
          <p:cNvSpPr/>
          <p:nvPr/>
        </p:nvSpPr>
        <p:spPr>
          <a:xfrm>
            <a:off x="1485900" y="2076450"/>
            <a:ext cx="4267200" cy="266700"/>
          </a:xfrm>
          <a:prstGeom prst="rect">
            <a:avLst/>
          </a:prstGeom>
          <a:noFill/>
          <a:ln/>
        </p:spPr>
        <p:txBody>
          <a:bodyPr vert="horz" wrap="square" lIns="0" tIns="0" rIns="0" bIns="0" rtlCol="0" anchor="t"/>
          <a:lstStyle/>
          <a:p>
            <a:pPr marL="0" indent="0">
              <a:lnSpc>
                <a:spcPts val="2100"/>
              </a:lnSpc>
              <a:buNone/>
            </a:pPr>
            <a:r>
              <a:rPr lang="en-US" sz="1500" b="1" dirty="0">
                <a:solidFill>
                  <a:srgbClr val="1F2937"/>
                </a:solidFill>
                <a:latin typeface="標楷體" panose="03000509000000000000" pitchFamily="65" charset="-120"/>
                <a:ea typeface="標楷體" panose="03000509000000000000" pitchFamily="65" charset="-120"/>
                <a:cs typeface="ui-sans-serif" pitchFamily="34" charset="-120"/>
              </a:rPr>
              <a:t>膠囊衣櫥</a:t>
            </a:r>
            <a:endParaRPr lang="en-US" sz="1500" dirty="0">
              <a:latin typeface="標楷體" panose="03000509000000000000" pitchFamily="65" charset="-120"/>
              <a:ea typeface="標楷體" panose="03000509000000000000" pitchFamily="65" charset="-120"/>
            </a:endParaRPr>
          </a:p>
        </p:txBody>
      </p:sp>
      <p:sp>
        <p:nvSpPr>
          <p:cNvPr id="19" name="Text 3"/>
          <p:cNvSpPr/>
          <p:nvPr/>
        </p:nvSpPr>
        <p:spPr>
          <a:xfrm>
            <a:off x="1485900" y="2419350"/>
            <a:ext cx="4267200" cy="685800"/>
          </a:xfrm>
          <a:prstGeom prst="rect">
            <a:avLst/>
          </a:prstGeom>
          <a:noFill/>
          <a:ln/>
        </p:spPr>
        <p:txBody>
          <a:bodyPr vert="horz" wrap="square" lIns="0" tIns="0" rIns="0" bIns="0" rtlCol="0" anchor="t"/>
          <a:lstStyle/>
          <a:p>
            <a:pPr marL="0" indent="0">
              <a:lnSpc>
                <a:spcPts val="1800"/>
              </a:lnSpc>
              <a:buNone/>
            </a:pPr>
            <a:r>
              <a:rPr lang="zh-TW" altLang="en-US" sz="1200" dirty="0">
                <a:solidFill>
                  <a:srgbClr val="4B5563"/>
                </a:solidFill>
                <a:latin typeface="標楷體" panose="03000509000000000000" pitchFamily="65" charset="-120"/>
                <a:ea typeface="標楷體" panose="03000509000000000000" pitchFamily="65" charset="-120"/>
                <a:cs typeface="ui-sans-serif" pitchFamily="34" charset="-120"/>
              </a:rPr>
              <a:t>基於資源最佳化 </a:t>
            </a:r>
            <a:r>
              <a:rPr lang="en-US" altLang="zh-TW" sz="1200" dirty="0">
                <a:solidFill>
                  <a:srgbClr val="4B5563"/>
                </a:solidFill>
                <a:latin typeface="標楷體" panose="03000509000000000000" pitchFamily="65" charset="-120"/>
                <a:ea typeface="標楷體" panose="03000509000000000000" pitchFamily="65" charset="-120"/>
                <a:cs typeface="ui-sans-serif" pitchFamily="34" charset="-120"/>
              </a:rPr>
              <a:t>(</a:t>
            </a:r>
            <a:r>
              <a:rPr lang="en-US" sz="1200" dirty="0">
                <a:solidFill>
                  <a:srgbClr val="4B5563"/>
                </a:solidFill>
                <a:latin typeface="標楷體" panose="03000509000000000000" pitchFamily="65" charset="-120"/>
                <a:ea typeface="標楷體" panose="03000509000000000000" pitchFamily="65" charset="-120"/>
                <a:cs typeface="ui-sans-serif" pitchFamily="34" charset="-120"/>
              </a:rPr>
              <a:t>Optimization) </a:t>
            </a:r>
            <a:r>
              <a:rPr lang="zh-TW" altLang="en-US" sz="1200" dirty="0">
                <a:solidFill>
                  <a:srgbClr val="4B5563"/>
                </a:solidFill>
                <a:latin typeface="標楷體" panose="03000509000000000000" pitchFamily="65" charset="-120"/>
                <a:ea typeface="標楷體" panose="03000509000000000000" pitchFamily="65" charset="-120"/>
                <a:cs typeface="ui-sans-serif" pitchFamily="34" charset="-120"/>
              </a:rPr>
              <a:t>的工程設計原則與環境科學理念，系統旨在建構高效能衣物組合模型。該模型透過幾何與統計分析確定高泛用度核心單品 </a:t>
            </a:r>
            <a:r>
              <a:rPr lang="en-US" altLang="zh-TW" sz="1200" dirty="0">
                <a:solidFill>
                  <a:srgbClr val="4B5563"/>
                </a:solidFill>
                <a:latin typeface="標楷體" panose="03000509000000000000" pitchFamily="65" charset="-120"/>
                <a:ea typeface="標楷體" panose="03000509000000000000" pitchFamily="65" charset="-120"/>
                <a:cs typeface="ui-sans-serif" pitchFamily="34" charset="-120"/>
              </a:rPr>
              <a:t>(</a:t>
            </a:r>
            <a:r>
              <a:rPr lang="en-US" sz="1200" dirty="0">
                <a:solidFill>
                  <a:srgbClr val="4B5563"/>
                </a:solidFill>
                <a:latin typeface="標楷體" panose="03000509000000000000" pitchFamily="65" charset="-120"/>
                <a:ea typeface="標楷體" panose="03000509000000000000" pitchFamily="65" charset="-120"/>
                <a:cs typeface="ui-sans-serif" pitchFamily="34" charset="-120"/>
              </a:rPr>
              <a:t>Minimal Spanning Set)，</a:t>
            </a:r>
            <a:r>
              <a:rPr lang="zh-TW" altLang="en-US" sz="1200" dirty="0">
                <a:solidFill>
                  <a:srgbClr val="4B5563"/>
                </a:solidFill>
                <a:latin typeface="標楷體" panose="03000509000000000000" pitchFamily="65" charset="-120"/>
                <a:ea typeface="標楷體" panose="03000509000000000000" pitchFamily="65" charset="-120"/>
                <a:cs typeface="ui-sans-serif" pitchFamily="34" charset="-120"/>
              </a:rPr>
              <a:t>以最大化衣物使用率 </a:t>
            </a:r>
            <a:r>
              <a:rPr lang="en-US" altLang="zh-TW" sz="1200" dirty="0">
                <a:solidFill>
                  <a:srgbClr val="4B5563"/>
                </a:solidFill>
                <a:latin typeface="標楷體" panose="03000509000000000000" pitchFamily="65" charset="-120"/>
                <a:ea typeface="標楷體" panose="03000509000000000000" pitchFamily="65" charset="-120"/>
                <a:cs typeface="ui-sans-serif" pitchFamily="34" charset="-120"/>
              </a:rPr>
              <a:t>(</a:t>
            </a:r>
            <a:r>
              <a:rPr lang="en-US" sz="1200" dirty="0">
                <a:solidFill>
                  <a:srgbClr val="4B5563"/>
                </a:solidFill>
                <a:latin typeface="標楷體" panose="03000509000000000000" pitchFamily="65" charset="-120"/>
                <a:ea typeface="標楷體" panose="03000509000000000000" pitchFamily="65" charset="-120"/>
                <a:cs typeface="ui-sans-serif" pitchFamily="34" charset="-120"/>
              </a:rPr>
              <a:t>Utilization Rate)，</a:t>
            </a:r>
            <a:r>
              <a:rPr lang="zh-TW" altLang="en-US" sz="1200" dirty="0">
                <a:solidFill>
                  <a:srgbClr val="4B5563"/>
                </a:solidFill>
                <a:latin typeface="標楷體" panose="03000509000000000000" pitchFamily="65" charset="-120"/>
                <a:ea typeface="標楷體" panose="03000509000000000000" pitchFamily="65" charset="-120"/>
                <a:cs typeface="ui-sans-serif" pitchFamily="34" charset="-120"/>
              </a:rPr>
              <a:t>實現資源消耗的最小化。</a:t>
            </a:r>
            <a:endParaRPr lang="en-US" sz="1200" dirty="0">
              <a:latin typeface="標楷體" panose="03000509000000000000" pitchFamily="65" charset="-120"/>
              <a:ea typeface="標楷體" panose="03000509000000000000" pitchFamily="65" charset="-120"/>
            </a:endParaRPr>
          </a:p>
        </p:txBody>
      </p:sp>
      <p:sp>
        <p:nvSpPr>
          <p:cNvPr id="20" name="Text 4"/>
          <p:cNvSpPr/>
          <p:nvPr/>
        </p:nvSpPr>
        <p:spPr>
          <a:xfrm>
            <a:off x="7239000" y="2209800"/>
            <a:ext cx="4267200" cy="266700"/>
          </a:xfrm>
          <a:prstGeom prst="rect">
            <a:avLst/>
          </a:prstGeom>
          <a:noFill/>
          <a:ln/>
        </p:spPr>
        <p:txBody>
          <a:bodyPr vert="horz" wrap="square" lIns="0" tIns="0" rIns="0" bIns="0" rtlCol="0" anchor="t"/>
          <a:lstStyle/>
          <a:p>
            <a:pPr marL="0" indent="0">
              <a:lnSpc>
                <a:spcPts val="2100"/>
              </a:lnSpc>
              <a:buNone/>
            </a:pPr>
            <a:r>
              <a:rPr lang="en-US" sz="1500" b="1" dirty="0">
                <a:solidFill>
                  <a:srgbClr val="1F2937"/>
                </a:solidFill>
                <a:latin typeface="標楷體" panose="03000509000000000000" pitchFamily="65" charset="-120"/>
                <a:ea typeface="標楷體" panose="03000509000000000000" pitchFamily="65" charset="-120"/>
                <a:cs typeface="ui-sans-serif" pitchFamily="34" charset="-120"/>
              </a:rPr>
              <a:t>情境感知推薦</a:t>
            </a:r>
            <a:endParaRPr lang="en-US" sz="1500" dirty="0">
              <a:latin typeface="標楷體" panose="03000509000000000000" pitchFamily="65" charset="-120"/>
              <a:ea typeface="標楷體" panose="03000509000000000000" pitchFamily="65" charset="-120"/>
            </a:endParaRPr>
          </a:p>
        </p:txBody>
      </p:sp>
      <p:sp>
        <p:nvSpPr>
          <p:cNvPr id="21" name="Text 5"/>
          <p:cNvSpPr/>
          <p:nvPr/>
        </p:nvSpPr>
        <p:spPr>
          <a:xfrm>
            <a:off x="7239000" y="2552700"/>
            <a:ext cx="4267200" cy="457200"/>
          </a:xfrm>
          <a:prstGeom prst="rect">
            <a:avLst/>
          </a:prstGeom>
          <a:noFill/>
          <a:ln/>
        </p:spPr>
        <p:txBody>
          <a:bodyPr vert="horz" wrap="square" lIns="0" tIns="0" rIns="0" bIns="0" rtlCol="0" anchor="t"/>
          <a:lstStyle/>
          <a:p>
            <a:pPr marL="0" indent="0">
              <a:lnSpc>
                <a:spcPts val="1800"/>
              </a:lnSpc>
              <a:buNone/>
            </a:pPr>
            <a:r>
              <a:rPr lang="zh-TW" altLang="en-US" sz="1200" dirty="0">
                <a:solidFill>
                  <a:srgbClr val="4B5563"/>
                </a:solidFill>
                <a:latin typeface="標楷體" panose="03000509000000000000" pitchFamily="65" charset="-120"/>
                <a:ea typeface="標楷體" panose="03000509000000000000" pitchFamily="65" charset="-120"/>
                <a:cs typeface="ui-sans-serif" pitchFamily="34" charset="-120"/>
              </a:rPr>
              <a:t>應用多變數資料建模技術，將環境科學參數（如環境溫度、氣象數據）與使用者行為數據及神經科學相關的情緒特徵進行跨維度融合。透過預測模型分析即時情境特徵，輸出高相關性且即時反應 </a:t>
            </a:r>
            <a:r>
              <a:rPr lang="en-US" altLang="zh-TW" sz="1200" dirty="0">
                <a:solidFill>
                  <a:srgbClr val="4B5563"/>
                </a:solidFill>
                <a:latin typeface="標楷體" panose="03000509000000000000" pitchFamily="65" charset="-120"/>
                <a:ea typeface="標楷體" panose="03000509000000000000" pitchFamily="65" charset="-120"/>
                <a:cs typeface="ui-sans-serif" pitchFamily="34" charset="-120"/>
              </a:rPr>
              <a:t>(Real-time Response) </a:t>
            </a:r>
            <a:r>
              <a:rPr lang="zh-TW" altLang="en-US" sz="1200" dirty="0">
                <a:solidFill>
                  <a:srgbClr val="4B5563"/>
                </a:solidFill>
                <a:latin typeface="標楷體" panose="03000509000000000000" pitchFamily="65" charset="-120"/>
                <a:ea typeface="標楷體" panose="03000509000000000000" pitchFamily="65" charset="-120"/>
                <a:cs typeface="ui-sans-serif" pitchFamily="34" charset="-120"/>
              </a:rPr>
              <a:t>的個人化最佳化穿搭方案。</a:t>
            </a:r>
            <a:endParaRPr lang="en-US" sz="1200" dirty="0">
              <a:latin typeface="標楷體" panose="03000509000000000000" pitchFamily="65" charset="-120"/>
              <a:ea typeface="標楷體" panose="03000509000000000000" pitchFamily="65" charset="-120"/>
            </a:endParaRPr>
          </a:p>
        </p:txBody>
      </p:sp>
      <p:sp>
        <p:nvSpPr>
          <p:cNvPr id="22" name="Text 6"/>
          <p:cNvSpPr/>
          <p:nvPr/>
        </p:nvSpPr>
        <p:spPr>
          <a:xfrm>
            <a:off x="1485900" y="4629150"/>
            <a:ext cx="4267200" cy="266700"/>
          </a:xfrm>
          <a:prstGeom prst="rect">
            <a:avLst/>
          </a:prstGeom>
          <a:noFill/>
          <a:ln/>
        </p:spPr>
        <p:txBody>
          <a:bodyPr vert="horz" wrap="square" lIns="0" tIns="0" rIns="0" bIns="0" rtlCol="0" anchor="t"/>
          <a:lstStyle/>
          <a:p>
            <a:pPr marL="0" indent="0">
              <a:lnSpc>
                <a:spcPts val="2100"/>
              </a:lnSpc>
              <a:buNone/>
            </a:pPr>
            <a:r>
              <a:rPr lang="en-US" sz="1500" b="1" dirty="0">
                <a:solidFill>
                  <a:srgbClr val="1F2937"/>
                </a:solidFill>
                <a:latin typeface="標楷體" panose="03000509000000000000" pitchFamily="65" charset="-120"/>
                <a:ea typeface="標楷體" panose="03000509000000000000" pitchFamily="65" charset="-120"/>
                <a:cs typeface="ui-sans-serif" pitchFamily="34" charset="-120"/>
              </a:rPr>
              <a:t>可解釋AI</a:t>
            </a:r>
            <a:endParaRPr lang="en-US" sz="1500" dirty="0">
              <a:latin typeface="標楷體" panose="03000509000000000000" pitchFamily="65" charset="-120"/>
              <a:ea typeface="標楷體" panose="03000509000000000000" pitchFamily="65" charset="-120"/>
            </a:endParaRPr>
          </a:p>
        </p:txBody>
      </p:sp>
      <p:sp>
        <p:nvSpPr>
          <p:cNvPr id="23" name="Text 7"/>
          <p:cNvSpPr/>
          <p:nvPr/>
        </p:nvSpPr>
        <p:spPr>
          <a:xfrm>
            <a:off x="1485900" y="4972050"/>
            <a:ext cx="4267200" cy="685800"/>
          </a:xfrm>
          <a:prstGeom prst="rect">
            <a:avLst/>
          </a:prstGeom>
          <a:noFill/>
          <a:ln/>
        </p:spPr>
        <p:txBody>
          <a:bodyPr vert="horz" wrap="square" lIns="0" tIns="0" rIns="0" bIns="0" rtlCol="0" anchor="t"/>
          <a:lstStyle/>
          <a:p>
            <a:pPr marL="0" indent="0">
              <a:lnSpc>
                <a:spcPts val="1800"/>
              </a:lnSpc>
              <a:buNone/>
            </a:pPr>
            <a:r>
              <a:rPr lang="zh-TW" altLang="en-US" sz="1200" dirty="0">
                <a:solidFill>
                  <a:srgbClr val="4B5563"/>
                </a:solidFill>
                <a:latin typeface="標楷體" panose="03000509000000000000" pitchFamily="65" charset="-120"/>
                <a:ea typeface="標楷體" panose="03000509000000000000" pitchFamily="65" charset="-120"/>
                <a:cs typeface="ui-sans-serif" pitchFamily="34" charset="-120"/>
              </a:rPr>
              <a:t>為了增進系統的透明度與使用者對控制系統的信心，本架構引入可解釋 </a:t>
            </a:r>
            <a:r>
              <a:rPr lang="en-US" altLang="zh-TW" sz="1200" dirty="0">
                <a:solidFill>
                  <a:srgbClr val="4B5563"/>
                </a:solidFill>
                <a:latin typeface="標楷體" panose="03000509000000000000" pitchFamily="65" charset="-120"/>
                <a:ea typeface="標楷體" panose="03000509000000000000" pitchFamily="65" charset="-120"/>
                <a:cs typeface="ui-sans-serif" pitchFamily="34" charset="-120"/>
              </a:rPr>
              <a:t>AI (XAI) </a:t>
            </a:r>
            <a:r>
              <a:rPr lang="zh-TW" altLang="en-US" sz="1200" dirty="0">
                <a:solidFill>
                  <a:srgbClr val="4B5563"/>
                </a:solidFill>
                <a:latin typeface="標楷體" panose="03000509000000000000" pitchFamily="65" charset="-120"/>
                <a:ea typeface="標楷體" panose="03000509000000000000" pitchFamily="65" charset="-120"/>
                <a:cs typeface="ui-sans-serif" pitchFamily="34" charset="-120"/>
              </a:rPr>
              <a:t>框架。利用大型語言模型 </a:t>
            </a:r>
            <a:r>
              <a:rPr lang="en-US" altLang="zh-TW" sz="1200" dirty="0">
                <a:solidFill>
                  <a:srgbClr val="4B5563"/>
                </a:solidFill>
                <a:latin typeface="標楷體" panose="03000509000000000000" pitchFamily="65" charset="-120"/>
                <a:ea typeface="標楷體" panose="03000509000000000000" pitchFamily="65" charset="-120"/>
                <a:cs typeface="ui-sans-serif" pitchFamily="34" charset="-120"/>
              </a:rPr>
              <a:t>(LLM) </a:t>
            </a:r>
            <a:r>
              <a:rPr lang="zh-TW" altLang="en-US" sz="1200" dirty="0">
                <a:solidFill>
                  <a:srgbClr val="4B5563"/>
                </a:solidFill>
                <a:latin typeface="標楷體" panose="03000509000000000000" pitchFamily="65" charset="-120"/>
                <a:ea typeface="標楷體" panose="03000509000000000000" pitchFamily="65" charset="-120"/>
                <a:cs typeface="ui-sans-serif" pitchFamily="34" charset="-120"/>
              </a:rPr>
              <a:t>的自然語言處理 </a:t>
            </a:r>
            <a:r>
              <a:rPr lang="en-US" altLang="zh-TW" sz="1200" dirty="0">
                <a:solidFill>
                  <a:srgbClr val="4B5563"/>
                </a:solidFill>
                <a:latin typeface="標楷體" panose="03000509000000000000" pitchFamily="65" charset="-120"/>
                <a:ea typeface="標楷體" panose="03000509000000000000" pitchFamily="65" charset="-120"/>
                <a:cs typeface="ui-sans-serif" pitchFamily="34" charset="-120"/>
              </a:rPr>
              <a:t>(NLP) </a:t>
            </a:r>
            <a:r>
              <a:rPr lang="zh-TW" altLang="en-US" sz="1200" dirty="0">
                <a:solidFill>
                  <a:srgbClr val="4B5563"/>
                </a:solidFill>
                <a:latin typeface="標楷體" panose="03000509000000000000" pitchFamily="65" charset="-120"/>
                <a:ea typeface="標楷體" panose="03000509000000000000" pitchFamily="65" charset="-120"/>
                <a:cs typeface="ui-sans-serif" pitchFamily="34" charset="-120"/>
              </a:rPr>
              <a:t>生成能力，將演算法的內部推論路徑轉換為清晰、結構化的語義解釋，從根本上解決深度學習「黑箱問題」。</a:t>
            </a:r>
            <a:endParaRPr lang="en-US" sz="1200" dirty="0">
              <a:latin typeface="標楷體" panose="03000509000000000000" pitchFamily="65" charset="-120"/>
              <a:ea typeface="標楷體" panose="03000509000000000000" pitchFamily="65" charset="-120"/>
            </a:endParaRPr>
          </a:p>
        </p:txBody>
      </p:sp>
      <p:sp>
        <p:nvSpPr>
          <p:cNvPr id="24" name="Text 8"/>
          <p:cNvSpPr/>
          <p:nvPr/>
        </p:nvSpPr>
        <p:spPr>
          <a:xfrm>
            <a:off x="7239000" y="4629150"/>
            <a:ext cx="4267200" cy="266700"/>
          </a:xfrm>
          <a:prstGeom prst="rect">
            <a:avLst/>
          </a:prstGeom>
          <a:noFill/>
          <a:ln/>
        </p:spPr>
        <p:txBody>
          <a:bodyPr vert="horz" wrap="square" lIns="0" tIns="0" rIns="0" bIns="0" rtlCol="0" anchor="t"/>
          <a:lstStyle/>
          <a:p>
            <a:pPr marL="0" indent="0">
              <a:lnSpc>
                <a:spcPts val="2100"/>
              </a:lnSpc>
              <a:buNone/>
            </a:pPr>
            <a:r>
              <a:rPr lang="en-US" sz="1500" b="1" dirty="0">
                <a:solidFill>
                  <a:srgbClr val="1F2937"/>
                </a:solidFill>
                <a:latin typeface="標楷體" panose="03000509000000000000" pitchFamily="65" charset="-120"/>
                <a:ea typeface="標楷體" panose="03000509000000000000" pitchFamily="65" charset="-120"/>
                <a:cs typeface="ui-sans-serif" pitchFamily="34" charset="-120"/>
              </a:rPr>
              <a:t>端側優先架構</a:t>
            </a:r>
            <a:endParaRPr lang="en-US" sz="1500" dirty="0">
              <a:latin typeface="標楷體" panose="03000509000000000000" pitchFamily="65" charset="-120"/>
              <a:ea typeface="標楷體" panose="03000509000000000000" pitchFamily="65" charset="-120"/>
            </a:endParaRPr>
          </a:p>
        </p:txBody>
      </p:sp>
      <p:sp>
        <p:nvSpPr>
          <p:cNvPr id="25" name="Text 9"/>
          <p:cNvSpPr/>
          <p:nvPr/>
        </p:nvSpPr>
        <p:spPr>
          <a:xfrm>
            <a:off x="7239000" y="4972050"/>
            <a:ext cx="4267200" cy="685800"/>
          </a:xfrm>
          <a:prstGeom prst="rect">
            <a:avLst/>
          </a:prstGeom>
          <a:noFill/>
          <a:ln/>
        </p:spPr>
        <p:txBody>
          <a:bodyPr vert="horz" wrap="square" lIns="0" tIns="0" rIns="0" bIns="0" rtlCol="0" anchor="t"/>
          <a:lstStyle/>
          <a:p>
            <a:pPr marL="0" indent="0">
              <a:lnSpc>
                <a:spcPts val="1800"/>
              </a:lnSpc>
              <a:buNone/>
            </a:pPr>
            <a:r>
              <a:rPr lang="zh-TW" altLang="en-US" sz="1200" dirty="0">
                <a:solidFill>
                  <a:srgbClr val="4B5563"/>
                </a:solidFill>
                <a:latin typeface="標楷體" panose="03000509000000000000" pitchFamily="65" charset="-120"/>
                <a:ea typeface="標楷體" panose="03000509000000000000" pitchFamily="65" charset="-120"/>
                <a:cs typeface="ui-sans-serif" pitchFamily="34" charset="-120"/>
              </a:rPr>
              <a:t>實施端側優先 </a:t>
            </a:r>
            <a:r>
              <a:rPr lang="en-US" altLang="zh-TW" sz="1200" dirty="0">
                <a:solidFill>
                  <a:srgbClr val="4B5563"/>
                </a:solidFill>
                <a:latin typeface="標楷體" panose="03000509000000000000" pitchFamily="65" charset="-120"/>
                <a:ea typeface="標楷體" panose="03000509000000000000" pitchFamily="65" charset="-120"/>
                <a:cs typeface="ui-sans-serif" pitchFamily="34" charset="-120"/>
              </a:rPr>
              <a:t>(Edge-First) </a:t>
            </a:r>
            <a:r>
              <a:rPr lang="zh-TW" altLang="en-US" sz="1200" dirty="0">
                <a:solidFill>
                  <a:srgbClr val="4B5563"/>
                </a:solidFill>
                <a:latin typeface="標楷體" panose="03000509000000000000" pitchFamily="65" charset="-120"/>
                <a:ea typeface="標楷體" panose="03000509000000000000" pitchFamily="65" charset="-120"/>
                <a:cs typeface="ui-sans-serif" pitchFamily="34" charset="-120"/>
              </a:rPr>
              <a:t>的分散式運算架構，以優化運算效率並強化資料科學中的隱私保護。關鍵在於利用邊緣運算 </a:t>
            </a:r>
            <a:r>
              <a:rPr lang="en-US" altLang="zh-TW" sz="1200" dirty="0">
                <a:solidFill>
                  <a:srgbClr val="4B5563"/>
                </a:solidFill>
                <a:latin typeface="標楷體" panose="03000509000000000000" pitchFamily="65" charset="-120"/>
                <a:ea typeface="標楷體" panose="03000509000000000000" pitchFamily="65" charset="-120"/>
                <a:cs typeface="ui-sans-serif" pitchFamily="34" charset="-120"/>
              </a:rPr>
              <a:t>(Edge Computing) </a:t>
            </a:r>
            <a:r>
              <a:rPr lang="zh-TW" altLang="en-US" sz="1200" dirty="0">
                <a:solidFill>
                  <a:srgbClr val="4B5563"/>
                </a:solidFill>
                <a:latin typeface="標楷體" panose="03000509000000000000" pitchFamily="65" charset="-120"/>
                <a:ea typeface="標楷體" panose="03000509000000000000" pitchFamily="65" charset="-120"/>
                <a:cs typeface="ui-sans-serif" pitchFamily="34" charset="-120"/>
              </a:rPr>
              <a:t>在使用者終端執行資料預處理與感測器數據的初步過濾，從而顯著降低雲端伺服器負載、縮短系統反應延遲，並透過本地化處理保障使用者數據的機密性。</a:t>
            </a:r>
            <a:endParaRPr lang="en-US" sz="1200" dirty="0">
              <a:latin typeface="標楷體" panose="03000509000000000000" pitchFamily="65" charset="-120"/>
              <a:ea typeface="標楷體" panose="03000509000000000000" pitchFamily="65" charset="-120"/>
            </a:endParaRPr>
          </a:p>
        </p:txBody>
      </p:sp>
      <p:sp>
        <p:nvSpPr>
          <p:cNvPr id="26" name="Text 10"/>
          <p:cNvSpPr/>
          <p:nvPr/>
        </p:nvSpPr>
        <p:spPr>
          <a:xfrm>
            <a:off x="7932390" y="6477000"/>
            <a:ext cx="4562892" cy="228600"/>
          </a:xfrm>
          <a:prstGeom prst="rect">
            <a:avLst/>
          </a:prstGeom>
          <a:noFill/>
          <a:ln/>
        </p:spPr>
        <p:txBody>
          <a:bodyPr vert="horz" wrap="square" lIns="0" tIns="0" rIns="0" bIns="0" rtlCol="0" anchor="t"/>
          <a:lstStyle/>
          <a:p>
            <a:pPr marL="0" indent="0">
              <a:lnSpc>
                <a:spcPts val="1800"/>
              </a:lnSpc>
              <a:buNone/>
            </a:pPr>
            <a:r>
              <a:rPr lang="en-US" sz="1200" i="1" dirty="0">
                <a:solidFill>
                  <a:srgbClr val="6B7280"/>
                </a:solidFill>
                <a:latin typeface="標楷體" panose="03000509000000000000" pitchFamily="65" charset="-120"/>
                <a:ea typeface="標楷體" panose="03000509000000000000" pitchFamily="65" charset="-120"/>
                <a:cs typeface="ui-sans-serif" pitchFamily="34" charset="-120"/>
              </a:rPr>
              <a:t>設計原理相互支持，共同構建WearWise的核心競爭優勢</a:t>
            </a:r>
            <a:endParaRPr lang="en-US" sz="1200" dirty="0">
              <a:latin typeface="標楷體" panose="03000509000000000000" pitchFamily="65" charset="-120"/>
              <a:ea typeface="標楷體" panose="03000509000000000000" pitchFamily="65" charset="-12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2192000" cy="6858000"/>
          </a:xfrm>
          <a:prstGeom prst="rect">
            <a:avLst/>
          </a:prstGeom>
        </p:spPr>
      </p:pic>
      <p:pic>
        <p:nvPicPr>
          <p:cNvPr id="3" name="Image 1" descr="preencoded.png"/>
          <p:cNvPicPr>
            <a:picLocks noChangeAspect="1"/>
          </p:cNvPicPr>
          <p:nvPr/>
        </p:nvPicPr>
        <p:blipFill>
          <a:blip r:embed="rId4"/>
          <a:stretch>
            <a:fillRect/>
          </a:stretch>
        </p:blipFill>
        <p:spPr>
          <a:xfrm>
            <a:off x="0" y="0"/>
            <a:ext cx="12192000" cy="952500"/>
          </a:xfrm>
          <a:prstGeom prst="rect">
            <a:avLst/>
          </a:prstGeom>
        </p:spPr>
      </p:pic>
      <p:pic>
        <p:nvPicPr>
          <p:cNvPr id="4" name="Image 2" descr="preencoded.png"/>
          <p:cNvPicPr>
            <a:picLocks noChangeAspect="1"/>
          </p:cNvPicPr>
          <p:nvPr/>
        </p:nvPicPr>
        <p:blipFill>
          <a:blip r:embed="rId5"/>
          <a:stretch>
            <a:fillRect/>
          </a:stretch>
        </p:blipFill>
        <p:spPr>
          <a:xfrm>
            <a:off x="381000" y="1333500"/>
            <a:ext cx="5524500" cy="5143500"/>
          </a:xfrm>
          <a:prstGeom prst="rect">
            <a:avLst/>
          </a:prstGeom>
        </p:spPr>
      </p:pic>
      <p:pic>
        <p:nvPicPr>
          <p:cNvPr id="5" name="Image 3" descr="preencoded.png"/>
          <p:cNvPicPr>
            <a:picLocks noChangeAspect="1"/>
          </p:cNvPicPr>
          <p:nvPr/>
        </p:nvPicPr>
        <p:blipFill>
          <a:blip r:embed="rId6"/>
          <a:stretch>
            <a:fillRect/>
          </a:stretch>
        </p:blipFill>
        <p:spPr>
          <a:xfrm>
            <a:off x="609600" y="1600200"/>
            <a:ext cx="228600" cy="228600"/>
          </a:xfrm>
          <a:prstGeom prst="rect">
            <a:avLst/>
          </a:prstGeom>
        </p:spPr>
      </p:pic>
      <p:pic>
        <p:nvPicPr>
          <p:cNvPr id="6" name="Image 4" descr="preencoded.png"/>
          <p:cNvPicPr>
            <a:picLocks noChangeAspect="1"/>
          </p:cNvPicPr>
          <p:nvPr/>
        </p:nvPicPr>
        <p:blipFill>
          <a:blip r:embed="rId7"/>
          <a:stretch>
            <a:fillRect/>
          </a:stretch>
        </p:blipFill>
        <p:spPr>
          <a:xfrm>
            <a:off x="609600" y="2019300"/>
            <a:ext cx="5067300" cy="1485900"/>
          </a:xfrm>
          <a:prstGeom prst="rect">
            <a:avLst/>
          </a:prstGeom>
        </p:spPr>
      </p:pic>
      <p:pic>
        <p:nvPicPr>
          <p:cNvPr id="7" name="Image 5" descr="preencoded.png"/>
          <p:cNvPicPr>
            <a:picLocks noChangeAspect="1"/>
          </p:cNvPicPr>
          <p:nvPr/>
        </p:nvPicPr>
        <p:blipFill>
          <a:blip r:embed="rId8"/>
          <a:stretch>
            <a:fillRect/>
          </a:stretch>
        </p:blipFill>
        <p:spPr>
          <a:xfrm>
            <a:off x="752475" y="2743200"/>
            <a:ext cx="2857500" cy="762000"/>
          </a:xfrm>
          <a:prstGeom prst="rect">
            <a:avLst/>
          </a:prstGeom>
        </p:spPr>
      </p:pic>
      <p:pic>
        <p:nvPicPr>
          <p:cNvPr id="8" name="Image 6" descr="preencoded.png"/>
          <p:cNvPicPr>
            <a:picLocks noChangeAspect="1"/>
          </p:cNvPicPr>
          <p:nvPr/>
        </p:nvPicPr>
        <p:blipFill>
          <a:blip r:embed="rId9"/>
          <a:stretch>
            <a:fillRect/>
          </a:stretch>
        </p:blipFill>
        <p:spPr>
          <a:xfrm>
            <a:off x="609600" y="4953000"/>
            <a:ext cx="5067300" cy="1295400"/>
          </a:xfrm>
          <a:prstGeom prst="rect">
            <a:avLst/>
          </a:prstGeom>
        </p:spPr>
      </p:pic>
      <p:pic>
        <p:nvPicPr>
          <p:cNvPr id="9" name="Image 7" descr="preencoded.png"/>
          <p:cNvPicPr>
            <a:picLocks noChangeAspect="1"/>
          </p:cNvPicPr>
          <p:nvPr/>
        </p:nvPicPr>
        <p:blipFill>
          <a:blip r:embed="rId10"/>
          <a:stretch>
            <a:fillRect/>
          </a:stretch>
        </p:blipFill>
        <p:spPr>
          <a:xfrm>
            <a:off x="752475" y="5867400"/>
            <a:ext cx="381000" cy="381000"/>
          </a:xfrm>
          <a:prstGeom prst="rect">
            <a:avLst/>
          </a:prstGeom>
        </p:spPr>
      </p:pic>
      <p:pic>
        <p:nvPicPr>
          <p:cNvPr id="10" name="Image 8" descr="preencoded.png"/>
          <p:cNvPicPr>
            <a:picLocks noChangeAspect="1"/>
          </p:cNvPicPr>
          <p:nvPr/>
        </p:nvPicPr>
        <p:blipFill>
          <a:blip r:embed="rId11"/>
          <a:stretch>
            <a:fillRect/>
          </a:stretch>
        </p:blipFill>
        <p:spPr>
          <a:xfrm>
            <a:off x="866775" y="5981700"/>
            <a:ext cx="152400" cy="152400"/>
          </a:xfrm>
          <a:prstGeom prst="rect">
            <a:avLst/>
          </a:prstGeom>
        </p:spPr>
      </p:pic>
      <p:pic>
        <p:nvPicPr>
          <p:cNvPr id="11" name="Image 9" descr="preencoded.png"/>
          <p:cNvPicPr>
            <a:picLocks noChangeAspect="1"/>
          </p:cNvPicPr>
          <p:nvPr/>
        </p:nvPicPr>
        <p:blipFill>
          <a:blip r:embed="rId5"/>
          <a:stretch>
            <a:fillRect/>
          </a:stretch>
        </p:blipFill>
        <p:spPr>
          <a:xfrm>
            <a:off x="6286500" y="1333500"/>
            <a:ext cx="5524500" cy="5143500"/>
          </a:xfrm>
          <a:prstGeom prst="rect">
            <a:avLst/>
          </a:prstGeom>
        </p:spPr>
      </p:pic>
      <p:pic>
        <p:nvPicPr>
          <p:cNvPr id="12" name="Image 10" descr="preencoded.png"/>
          <p:cNvPicPr>
            <a:picLocks noChangeAspect="1"/>
          </p:cNvPicPr>
          <p:nvPr/>
        </p:nvPicPr>
        <p:blipFill>
          <a:blip r:embed="rId12"/>
          <a:stretch>
            <a:fillRect/>
          </a:stretch>
        </p:blipFill>
        <p:spPr>
          <a:xfrm>
            <a:off x="6515100" y="1600200"/>
            <a:ext cx="285750" cy="228600"/>
          </a:xfrm>
          <a:prstGeom prst="rect">
            <a:avLst/>
          </a:prstGeom>
        </p:spPr>
      </p:pic>
      <p:pic>
        <p:nvPicPr>
          <p:cNvPr id="13" name="Image 11" descr="preencoded.png"/>
          <p:cNvPicPr>
            <a:picLocks noChangeAspect="1"/>
          </p:cNvPicPr>
          <p:nvPr/>
        </p:nvPicPr>
        <p:blipFill>
          <a:blip r:embed="rId13"/>
          <a:stretch>
            <a:fillRect/>
          </a:stretch>
        </p:blipFill>
        <p:spPr>
          <a:xfrm>
            <a:off x="6515100" y="2019300"/>
            <a:ext cx="5067300" cy="1295400"/>
          </a:xfrm>
          <a:prstGeom prst="rect">
            <a:avLst/>
          </a:prstGeom>
        </p:spPr>
      </p:pic>
      <p:pic>
        <p:nvPicPr>
          <p:cNvPr id="14" name="Image 12" descr="preencoded.png"/>
          <p:cNvPicPr>
            <a:picLocks noChangeAspect="1"/>
          </p:cNvPicPr>
          <p:nvPr/>
        </p:nvPicPr>
        <p:blipFill>
          <a:blip r:embed="rId14"/>
          <a:stretch>
            <a:fillRect/>
          </a:stretch>
        </p:blipFill>
        <p:spPr>
          <a:xfrm>
            <a:off x="6657975" y="2933700"/>
            <a:ext cx="381000" cy="381000"/>
          </a:xfrm>
          <a:prstGeom prst="rect">
            <a:avLst/>
          </a:prstGeom>
        </p:spPr>
      </p:pic>
      <p:pic>
        <p:nvPicPr>
          <p:cNvPr id="15" name="Image 13" descr="preencoded.png"/>
          <p:cNvPicPr>
            <a:picLocks noChangeAspect="1"/>
          </p:cNvPicPr>
          <p:nvPr/>
        </p:nvPicPr>
        <p:blipFill>
          <a:blip r:embed="rId15"/>
          <a:stretch>
            <a:fillRect/>
          </a:stretch>
        </p:blipFill>
        <p:spPr>
          <a:xfrm>
            <a:off x="6791325" y="3048000"/>
            <a:ext cx="114300" cy="152400"/>
          </a:xfrm>
          <a:prstGeom prst="rect">
            <a:avLst/>
          </a:prstGeom>
        </p:spPr>
      </p:pic>
      <p:pic>
        <p:nvPicPr>
          <p:cNvPr id="16" name="Image 14" descr="preencoded.png"/>
          <p:cNvPicPr>
            <a:picLocks noChangeAspect="1"/>
          </p:cNvPicPr>
          <p:nvPr/>
        </p:nvPicPr>
        <p:blipFill>
          <a:blip r:embed="rId13"/>
          <a:stretch>
            <a:fillRect/>
          </a:stretch>
        </p:blipFill>
        <p:spPr>
          <a:xfrm>
            <a:off x="6515100" y="4953000"/>
            <a:ext cx="5067300" cy="1295400"/>
          </a:xfrm>
          <a:prstGeom prst="rect">
            <a:avLst/>
          </a:prstGeom>
        </p:spPr>
      </p:pic>
      <p:pic>
        <p:nvPicPr>
          <p:cNvPr id="17" name="Image 15" descr="preencoded.png"/>
          <p:cNvPicPr>
            <a:picLocks noChangeAspect="1"/>
          </p:cNvPicPr>
          <p:nvPr/>
        </p:nvPicPr>
        <p:blipFill>
          <a:blip r:embed="rId16"/>
          <a:stretch>
            <a:fillRect/>
          </a:stretch>
        </p:blipFill>
        <p:spPr>
          <a:xfrm>
            <a:off x="6657975" y="5867400"/>
            <a:ext cx="381000" cy="381000"/>
          </a:xfrm>
          <a:prstGeom prst="rect">
            <a:avLst/>
          </a:prstGeom>
        </p:spPr>
      </p:pic>
      <p:pic>
        <p:nvPicPr>
          <p:cNvPr id="18" name="Image 16" descr="preencoded.png"/>
          <p:cNvPicPr>
            <a:picLocks noChangeAspect="1"/>
          </p:cNvPicPr>
          <p:nvPr/>
        </p:nvPicPr>
        <p:blipFill>
          <a:blip r:embed="rId17"/>
          <a:stretch>
            <a:fillRect/>
          </a:stretch>
        </p:blipFill>
        <p:spPr>
          <a:xfrm>
            <a:off x="6772275" y="5981700"/>
            <a:ext cx="152400" cy="152400"/>
          </a:xfrm>
          <a:prstGeom prst="rect">
            <a:avLst/>
          </a:prstGeom>
        </p:spPr>
      </p:pic>
      <p:sp>
        <p:nvSpPr>
          <p:cNvPr id="19" name="Text 0"/>
          <p:cNvSpPr/>
          <p:nvPr/>
        </p:nvSpPr>
        <p:spPr>
          <a:xfrm>
            <a:off x="609600" y="285750"/>
            <a:ext cx="7406640" cy="381000"/>
          </a:xfrm>
          <a:prstGeom prst="rect">
            <a:avLst/>
          </a:prstGeom>
          <a:noFill/>
          <a:ln/>
        </p:spPr>
        <p:txBody>
          <a:bodyPr vert="horz" wrap="square" lIns="0" tIns="0" rIns="0" bIns="0" rtlCol="0" anchor="t"/>
          <a:lstStyle/>
          <a:p>
            <a:pPr marL="0" indent="0">
              <a:lnSpc>
                <a:spcPts val="3000"/>
              </a:lnSpc>
              <a:buNone/>
            </a:pPr>
            <a:r>
              <a:rPr lang="en-US" sz="2700" b="1" dirty="0">
                <a:solidFill>
                  <a:srgbClr val="FFFFFF"/>
                </a:solidFill>
                <a:latin typeface="標楷體" panose="03000509000000000000" pitchFamily="65" charset="-120"/>
                <a:ea typeface="標楷體" panose="03000509000000000000" pitchFamily="65" charset="-120"/>
                <a:cs typeface="ui-sans-serif" pitchFamily="34" charset="-120"/>
              </a:rPr>
              <a:t>成效預估：應用服務效益與使用者接受度</a:t>
            </a:r>
            <a:endParaRPr lang="en-US" sz="2700" dirty="0">
              <a:latin typeface="標楷體" panose="03000509000000000000" pitchFamily="65" charset="-120"/>
              <a:ea typeface="標楷體" panose="03000509000000000000" pitchFamily="65" charset="-120"/>
            </a:endParaRPr>
          </a:p>
        </p:txBody>
      </p:sp>
      <p:sp>
        <p:nvSpPr>
          <p:cNvPr id="20" name="Text 1"/>
          <p:cNvSpPr/>
          <p:nvPr/>
        </p:nvSpPr>
        <p:spPr>
          <a:xfrm>
            <a:off x="952500" y="1562100"/>
            <a:ext cx="5067300" cy="304800"/>
          </a:xfrm>
          <a:prstGeom prst="rect">
            <a:avLst/>
          </a:prstGeom>
          <a:noFill/>
          <a:ln/>
        </p:spPr>
        <p:txBody>
          <a:bodyPr vert="horz" wrap="square" lIns="0" tIns="0" rIns="0" bIns="0" rtlCol="0" anchor="t"/>
          <a:lstStyle/>
          <a:p>
            <a:pPr marL="0" indent="0">
              <a:lnSpc>
                <a:spcPts val="2400"/>
              </a:lnSpc>
              <a:buNone/>
            </a:pPr>
            <a:r>
              <a:rPr lang="en-US" sz="1800" b="1" dirty="0">
                <a:solidFill>
                  <a:srgbClr val="1F2937"/>
                </a:solidFill>
                <a:latin typeface="標楷體" panose="03000509000000000000" pitchFamily="65" charset="-120"/>
                <a:ea typeface="標楷體" panose="03000509000000000000" pitchFamily="65" charset="-120"/>
                <a:cs typeface="ui-sans-serif" pitchFamily="34" charset="-120"/>
              </a:rPr>
              <a:t>應用服務效益</a:t>
            </a:r>
            <a:endParaRPr lang="en-US" sz="1800" dirty="0">
              <a:latin typeface="標楷體" panose="03000509000000000000" pitchFamily="65" charset="-120"/>
              <a:ea typeface="標楷體" panose="03000509000000000000" pitchFamily="65" charset="-120"/>
            </a:endParaRPr>
          </a:p>
        </p:txBody>
      </p:sp>
      <p:sp>
        <p:nvSpPr>
          <p:cNvPr id="21" name="Text 2"/>
          <p:cNvSpPr/>
          <p:nvPr/>
        </p:nvSpPr>
        <p:spPr>
          <a:xfrm>
            <a:off x="752475" y="2019300"/>
            <a:ext cx="4924425" cy="266700"/>
          </a:xfrm>
          <a:prstGeom prst="rect">
            <a:avLst/>
          </a:prstGeom>
          <a:noFill/>
          <a:ln/>
        </p:spPr>
        <p:txBody>
          <a:bodyPr vert="horz" wrap="square" lIns="0" tIns="0" rIns="0" bIns="0" rtlCol="0" anchor="t"/>
          <a:lstStyle/>
          <a:p>
            <a:pPr marL="0" indent="0">
              <a:lnSpc>
                <a:spcPts val="2100"/>
              </a:lnSpc>
              <a:buNone/>
            </a:pPr>
            <a:r>
              <a:rPr lang="en-US" sz="1500" b="1" dirty="0">
                <a:solidFill>
                  <a:srgbClr val="374151"/>
                </a:solidFill>
                <a:latin typeface="標楷體" panose="03000509000000000000" pitchFamily="65" charset="-120"/>
                <a:ea typeface="標楷體" panose="03000509000000000000" pitchFamily="65" charset="-120"/>
                <a:cs typeface="ui-sans-serif" pitchFamily="34" charset="-120"/>
              </a:rPr>
              <a:t>節省穿搭決策時間</a:t>
            </a:r>
            <a:endParaRPr lang="en-US" sz="1500" dirty="0">
              <a:latin typeface="標楷體" panose="03000509000000000000" pitchFamily="65" charset="-120"/>
              <a:ea typeface="標楷體" panose="03000509000000000000" pitchFamily="65" charset="-120"/>
            </a:endParaRPr>
          </a:p>
        </p:txBody>
      </p:sp>
      <p:sp>
        <p:nvSpPr>
          <p:cNvPr id="22" name="Text 3"/>
          <p:cNvSpPr/>
          <p:nvPr/>
        </p:nvSpPr>
        <p:spPr>
          <a:xfrm>
            <a:off x="752475" y="2362200"/>
            <a:ext cx="5909310" cy="228600"/>
          </a:xfrm>
          <a:prstGeom prst="rect">
            <a:avLst/>
          </a:prstGeom>
          <a:noFill/>
          <a:ln/>
        </p:spPr>
        <p:txBody>
          <a:bodyPr vert="horz" wrap="square" lIns="0" tIns="0" rIns="0" bIns="0" rtlCol="0" anchor="t"/>
          <a:lstStyle/>
          <a:p>
            <a:pPr marL="0" indent="0">
              <a:lnSpc>
                <a:spcPts val="1800"/>
              </a:lnSpc>
              <a:buNone/>
            </a:pPr>
            <a:r>
              <a:rPr lang="en-US" sz="1200" dirty="0">
                <a:solidFill>
                  <a:srgbClr val="4B5563"/>
                </a:solidFill>
                <a:latin typeface="標楷體" panose="03000509000000000000" pitchFamily="65" charset="-120"/>
                <a:ea typeface="標楷體" panose="03000509000000000000" pitchFamily="65" charset="-120"/>
                <a:cs typeface="ui-sans-serif" pitchFamily="34" charset="-120"/>
              </a:rPr>
              <a:t>將早晨寶貴的10至15分鐘從猶豫不決中解放出來，從焦慮轉化為效率</a:t>
            </a:r>
            <a:endParaRPr lang="en-US" sz="1200" dirty="0">
              <a:latin typeface="標楷體" panose="03000509000000000000" pitchFamily="65" charset="-120"/>
              <a:ea typeface="標楷體" panose="03000509000000000000" pitchFamily="65" charset="-120"/>
            </a:endParaRPr>
          </a:p>
        </p:txBody>
      </p:sp>
      <p:sp>
        <p:nvSpPr>
          <p:cNvPr id="23" name="Text 4"/>
          <p:cNvSpPr/>
          <p:nvPr/>
        </p:nvSpPr>
        <p:spPr>
          <a:xfrm>
            <a:off x="752475" y="4953000"/>
            <a:ext cx="4924425" cy="266700"/>
          </a:xfrm>
          <a:prstGeom prst="rect">
            <a:avLst/>
          </a:prstGeom>
          <a:noFill/>
          <a:ln/>
        </p:spPr>
        <p:txBody>
          <a:bodyPr vert="horz" wrap="square" lIns="0" tIns="0" rIns="0" bIns="0" rtlCol="0" anchor="t"/>
          <a:lstStyle/>
          <a:p>
            <a:pPr marL="0" indent="0">
              <a:lnSpc>
                <a:spcPts val="2100"/>
              </a:lnSpc>
              <a:buNone/>
            </a:pPr>
            <a:r>
              <a:rPr lang="en-US" sz="1500" b="1" dirty="0">
                <a:solidFill>
                  <a:srgbClr val="374151"/>
                </a:solidFill>
                <a:latin typeface="標楷體" panose="03000509000000000000" pitchFamily="65" charset="-120"/>
                <a:ea typeface="標楷體" panose="03000509000000000000" pitchFamily="65" charset="-120"/>
                <a:cs typeface="ui-sans-serif" pitchFamily="34" charset="-120"/>
              </a:rPr>
              <a:t>提升自信與舒適度</a:t>
            </a:r>
            <a:endParaRPr lang="en-US" sz="1500" dirty="0">
              <a:latin typeface="標楷體" panose="03000509000000000000" pitchFamily="65" charset="-120"/>
              <a:ea typeface="標楷體" panose="03000509000000000000" pitchFamily="65" charset="-120"/>
            </a:endParaRPr>
          </a:p>
        </p:txBody>
      </p:sp>
      <p:sp>
        <p:nvSpPr>
          <p:cNvPr id="24" name="Text 5"/>
          <p:cNvSpPr/>
          <p:nvPr/>
        </p:nvSpPr>
        <p:spPr>
          <a:xfrm>
            <a:off x="752475" y="5295900"/>
            <a:ext cx="4924425" cy="457200"/>
          </a:xfrm>
          <a:prstGeom prst="rect">
            <a:avLst/>
          </a:prstGeom>
          <a:noFill/>
          <a:ln/>
        </p:spPr>
        <p:txBody>
          <a:bodyPr vert="horz" wrap="square" lIns="0" tIns="0" rIns="0" bIns="0" rtlCol="0" anchor="t"/>
          <a:lstStyle/>
          <a:p>
            <a:pPr marL="0" indent="0">
              <a:lnSpc>
                <a:spcPts val="1800"/>
              </a:lnSpc>
              <a:buNone/>
            </a:pPr>
            <a:r>
              <a:rPr lang="en-US" sz="1200" dirty="0">
                <a:solidFill>
                  <a:srgbClr val="4B5563"/>
                </a:solidFill>
                <a:latin typeface="標楷體" panose="03000509000000000000" pitchFamily="65" charset="-120"/>
                <a:ea typeface="標楷體" panose="03000509000000000000" pitchFamily="65" charset="-120"/>
                <a:cs typeface="ui-sans-serif" pitchFamily="34" charset="-120"/>
              </a:rPr>
              <a:t>透過AI基於數據與邏輯的精準推薦，有效避免因天氣判斷失誤或場合理解偏差所導致的穿搭錯誤</a:t>
            </a:r>
            <a:endParaRPr lang="en-US" sz="1200" dirty="0">
              <a:latin typeface="標楷體" panose="03000509000000000000" pitchFamily="65" charset="-120"/>
              <a:ea typeface="標楷體" panose="03000509000000000000" pitchFamily="65" charset="-120"/>
            </a:endParaRPr>
          </a:p>
        </p:txBody>
      </p:sp>
      <p:sp>
        <p:nvSpPr>
          <p:cNvPr id="25" name="Text 6"/>
          <p:cNvSpPr/>
          <p:nvPr/>
        </p:nvSpPr>
        <p:spPr>
          <a:xfrm>
            <a:off x="1247775" y="5943600"/>
            <a:ext cx="1645920" cy="228600"/>
          </a:xfrm>
          <a:prstGeom prst="rect">
            <a:avLst/>
          </a:prstGeom>
          <a:noFill/>
          <a:ln/>
        </p:spPr>
        <p:txBody>
          <a:bodyPr vert="horz" wrap="square" lIns="0" tIns="0" rIns="0" bIns="0" rtlCol="0" anchor="t"/>
          <a:lstStyle/>
          <a:p>
            <a:pPr marL="0" indent="0">
              <a:lnSpc>
                <a:spcPts val="1800"/>
              </a:lnSpc>
              <a:buNone/>
            </a:pPr>
            <a:r>
              <a:rPr lang="en-US" sz="1200" dirty="0">
                <a:solidFill>
                  <a:srgbClr val="374151"/>
                </a:solidFill>
                <a:latin typeface="標楷體" panose="03000509000000000000" pitchFamily="65" charset="-120"/>
                <a:ea typeface="標楷體" panose="03000509000000000000" pitchFamily="65" charset="-120"/>
                <a:cs typeface="ui-sans-serif" pitchFamily="34" charset="-120"/>
              </a:rPr>
              <a:t>提高每日穿搭滿意度</a:t>
            </a:r>
            <a:endParaRPr lang="en-US" sz="1200" dirty="0">
              <a:latin typeface="標楷體" panose="03000509000000000000" pitchFamily="65" charset="-120"/>
              <a:ea typeface="標楷體" panose="03000509000000000000" pitchFamily="65" charset="-120"/>
            </a:endParaRPr>
          </a:p>
        </p:txBody>
      </p:sp>
      <p:sp>
        <p:nvSpPr>
          <p:cNvPr id="26" name="Text 7"/>
          <p:cNvSpPr/>
          <p:nvPr/>
        </p:nvSpPr>
        <p:spPr>
          <a:xfrm>
            <a:off x="6915150" y="1562100"/>
            <a:ext cx="5067300" cy="304800"/>
          </a:xfrm>
          <a:prstGeom prst="rect">
            <a:avLst/>
          </a:prstGeom>
          <a:noFill/>
          <a:ln/>
        </p:spPr>
        <p:txBody>
          <a:bodyPr vert="horz" wrap="square" lIns="0" tIns="0" rIns="0" bIns="0" rtlCol="0" anchor="t"/>
          <a:lstStyle/>
          <a:p>
            <a:pPr marL="0" indent="0">
              <a:lnSpc>
                <a:spcPts val="2400"/>
              </a:lnSpc>
              <a:buNone/>
            </a:pPr>
            <a:r>
              <a:rPr lang="en-US" sz="1800" b="1" dirty="0">
                <a:solidFill>
                  <a:srgbClr val="1F2937"/>
                </a:solidFill>
                <a:latin typeface="標楷體" panose="03000509000000000000" pitchFamily="65" charset="-120"/>
                <a:ea typeface="標楷體" panose="03000509000000000000" pitchFamily="65" charset="-120"/>
                <a:cs typeface="ui-sans-serif" pitchFamily="34" charset="-120"/>
              </a:rPr>
              <a:t>使用者接受度</a:t>
            </a:r>
            <a:endParaRPr lang="en-US" sz="1800" dirty="0">
              <a:latin typeface="標楷體" panose="03000509000000000000" pitchFamily="65" charset="-120"/>
              <a:ea typeface="標楷體" panose="03000509000000000000" pitchFamily="65" charset="-120"/>
            </a:endParaRPr>
          </a:p>
        </p:txBody>
      </p:sp>
      <p:sp>
        <p:nvSpPr>
          <p:cNvPr id="27" name="Text 8"/>
          <p:cNvSpPr/>
          <p:nvPr/>
        </p:nvSpPr>
        <p:spPr>
          <a:xfrm>
            <a:off x="6657975" y="2019300"/>
            <a:ext cx="4924425" cy="266700"/>
          </a:xfrm>
          <a:prstGeom prst="rect">
            <a:avLst/>
          </a:prstGeom>
          <a:noFill/>
          <a:ln/>
        </p:spPr>
        <p:txBody>
          <a:bodyPr vert="horz" wrap="square" lIns="0" tIns="0" rIns="0" bIns="0" rtlCol="0" anchor="t"/>
          <a:lstStyle/>
          <a:p>
            <a:pPr marL="0" indent="0">
              <a:lnSpc>
                <a:spcPts val="2100"/>
              </a:lnSpc>
              <a:buNone/>
            </a:pPr>
            <a:r>
              <a:rPr lang="en-US" sz="1500" b="1" dirty="0">
                <a:solidFill>
                  <a:srgbClr val="374151"/>
                </a:solidFill>
                <a:latin typeface="標楷體" panose="03000509000000000000" pitchFamily="65" charset="-120"/>
                <a:ea typeface="標楷體" panose="03000509000000000000" pitchFamily="65" charset="-120"/>
                <a:cs typeface="ui-sans-serif" pitchFamily="34" charset="-120"/>
              </a:rPr>
              <a:t>可解釋AI機制</a:t>
            </a:r>
            <a:endParaRPr lang="en-US" sz="1500" dirty="0">
              <a:latin typeface="標楷體" panose="03000509000000000000" pitchFamily="65" charset="-120"/>
              <a:ea typeface="標楷體" panose="03000509000000000000" pitchFamily="65" charset="-120"/>
            </a:endParaRPr>
          </a:p>
        </p:txBody>
      </p:sp>
      <p:sp>
        <p:nvSpPr>
          <p:cNvPr id="28" name="Text 9"/>
          <p:cNvSpPr/>
          <p:nvPr/>
        </p:nvSpPr>
        <p:spPr>
          <a:xfrm>
            <a:off x="6657975" y="2362200"/>
            <a:ext cx="4924425" cy="457200"/>
          </a:xfrm>
          <a:prstGeom prst="rect">
            <a:avLst/>
          </a:prstGeom>
          <a:noFill/>
          <a:ln/>
        </p:spPr>
        <p:txBody>
          <a:bodyPr vert="horz" wrap="square" lIns="0" tIns="0" rIns="0" bIns="0" rtlCol="0" anchor="t"/>
          <a:lstStyle/>
          <a:p>
            <a:pPr marL="0" indent="0">
              <a:lnSpc>
                <a:spcPts val="1800"/>
              </a:lnSpc>
              <a:buNone/>
            </a:pPr>
            <a:r>
              <a:rPr lang="en-US" sz="1200" dirty="0">
                <a:solidFill>
                  <a:srgbClr val="4B5563"/>
                </a:solidFill>
                <a:latin typeface="標楷體" panose="03000509000000000000" pitchFamily="65" charset="-120"/>
                <a:ea typeface="標楷體" panose="03000509000000000000" pitchFamily="65" charset="-120"/>
                <a:cs typeface="ui-sans-serif" pitchFamily="34" charset="-120"/>
              </a:rPr>
              <a:t>為每一次推薦提供清晰、人性化的文字理由与搭配点评，而非傳統推薦系統的「黑盒子」模式</a:t>
            </a:r>
            <a:endParaRPr lang="en-US" sz="1200" dirty="0">
              <a:latin typeface="標楷體" panose="03000509000000000000" pitchFamily="65" charset="-120"/>
              <a:ea typeface="標楷體" panose="03000509000000000000" pitchFamily="65" charset="-120"/>
            </a:endParaRPr>
          </a:p>
        </p:txBody>
      </p:sp>
      <p:sp>
        <p:nvSpPr>
          <p:cNvPr id="29" name="Text 10"/>
          <p:cNvSpPr/>
          <p:nvPr/>
        </p:nvSpPr>
        <p:spPr>
          <a:xfrm>
            <a:off x="7153275" y="3009900"/>
            <a:ext cx="4659690" cy="228600"/>
          </a:xfrm>
          <a:prstGeom prst="rect">
            <a:avLst/>
          </a:prstGeom>
          <a:noFill/>
          <a:ln/>
        </p:spPr>
        <p:txBody>
          <a:bodyPr vert="horz" wrap="square" lIns="0" tIns="0" rIns="0" bIns="0" rtlCol="0" anchor="t"/>
          <a:lstStyle/>
          <a:p>
            <a:pPr marL="0" indent="0">
              <a:lnSpc>
                <a:spcPts val="1800"/>
              </a:lnSpc>
              <a:buNone/>
            </a:pPr>
            <a:r>
              <a:rPr lang="en-US" sz="1200" dirty="0">
                <a:solidFill>
                  <a:srgbClr val="374151"/>
                </a:solidFill>
                <a:latin typeface="標楷體" panose="03000509000000000000" pitchFamily="65" charset="-120"/>
                <a:ea typeface="標楷體" panose="03000509000000000000" pitchFamily="65" charset="-120"/>
                <a:cs typeface="ui-sans-serif" pitchFamily="34" charset="-120"/>
              </a:rPr>
              <a:t>讓使用者理解AI的「思考過程」，進而學習並內化穿搭邏輯</a:t>
            </a:r>
            <a:endParaRPr lang="en-US" sz="1200" dirty="0">
              <a:latin typeface="標楷體" panose="03000509000000000000" pitchFamily="65" charset="-120"/>
              <a:ea typeface="標楷體" panose="03000509000000000000" pitchFamily="65" charset="-120"/>
            </a:endParaRPr>
          </a:p>
        </p:txBody>
      </p:sp>
      <p:sp>
        <p:nvSpPr>
          <p:cNvPr id="30" name="Text 11"/>
          <p:cNvSpPr/>
          <p:nvPr/>
        </p:nvSpPr>
        <p:spPr>
          <a:xfrm>
            <a:off x="6657975" y="4953000"/>
            <a:ext cx="4924425" cy="266700"/>
          </a:xfrm>
          <a:prstGeom prst="rect">
            <a:avLst/>
          </a:prstGeom>
          <a:noFill/>
          <a:ln/>
        </p:spPr>
        <p:txBody>
          <a:bodyPr vert="horz" wrap="square" lIns="0" tIns="0" rIns="0" bIns="0" rtlCol="0" anchor="t"/>
          <a:lstStyle/>
          <a:p>
            <a:pPr marL="0" indent="0">
              <a:lnSpc>
                <a:spcPts val="2100"/>
              </a:lnSpc>
              <a:buNone/>
            </a:pPr>
            <a:r>
              <a:rPr lang="en-US" sz="1500" b="1" dirty="0">
                <a:solidFill>
                  <a:srgbClr val="374151"/>
                </a:solidFill>
                <a:latin typeface="標楷體" panose="03000509000000000000" pitchFamily="65" charset="-120"/>
                <a:ea typeface="標楷體" panose="03000509000000000000" pitchFamily="65" charset="-120"/>
                <a:cs typeface="ui-sans-serif" pitchFamily="34" charset="-120"/>
              </a:rPr>
              <a:t>隱私友善設計</a:t>
            </a:r>
            <a:endParaRPr lang="en-US" sz="1500" dirty="0">
              <a:latin typeface="標楷體" panose="03000509000000000000" pitchFamily="65" charset="-120"/>
              <a:ea typeface="標楷體" panose="03000509000000000000" pitchFamily="65" charset="-120"/>
            </a:endParaRPr>
          </a:p>
        </p:txBody>
      </p:sp>
      <p:sp>
        <p:nvSpPr>
          <p:cNvPr id="31" name="Text 12"/>
          <p:cNvSpPr/>
          <p:nvPr/>
        </p:nvSpPr>
        <p:spPr>
          <a:xfrm>
            <a:off x="6657975" y="5295900"/>
            <a:ext cx="4924425" cy="457200"/>
          </a:xfrm>
          <a:prstGeom prst="rect">
            <a:avLst/>
          </a:prstGeom>
          <a:noFill/>
          <a:ln/>
        </p:spPr>
        <p:txBody>
          <a:bodyPr vert="horz" wrap="square" lIns="0" tIns="0" rIns="0" bIns="0" rtlCol="0" anchor="t"/>
          <a:lstStyle/>
          <a:p>
            <a:pPr marL="0" indent="0">
              <a:lnSpc>
                <a:spcPts val="1800"/>
              </a:lnSpc>
              <a:buNone/>
            </a:pPr>
            <a:r>
              <a:rPr lang="en-US" sz="1200" dirty="0">
                <a:solidFill>
                  <a:srgbClr val="4B5563"/>
                </a:solidFill>
                <a:latin typeface="標楷體" panose="03000509000000000000" pitchFamily="65" charset="-120"/>
                <a:ea typeface="標楷體" panose="03000509000000000000" pitchFamily="65" charset="-120"/>
                <a:cs typeface="ui-sans-serif" pitchFamily="34" charset="-120"/>
              </a:rPr>
              <a:t>「端側優先」架構確保使用者最敏感的個人衣物數據儲存於本機，僅將脫敏後的結構化数据傳送至雲端</a:t>
            </a:r>
            <a:endParaRPr lang="en-US" sz="1200" dirty="0">
              <a:latin typeface="標楷體" panose="03000509000000000000" pitchFamily="65" charset="-120"/>
              <a:ea typeface="標楷體" panose="03000509000000000000" pitchFamily="65" charset="-120"/>
            </a:endParaRPr>
          </a:p>
        </p:txBody>
      </p:sp>
      <p:sp>
        <p:nvSpPr>
          <p:cNvPr id="32" name="Text 13"/>
          <p:cNvSpPr/>
          <p:nvPr/>
        </p:nvSpPr>
        <p:spPr>
          <a:xfrm>
            <a:off x="7153275" y="5943600"/>
            <a:ext cx="3840480" cy="228600"/>
          </a:xfrm>
          <a:prstGeom prst="rect">
            <a:avLst/>
          </a:prstGeom>
          <a:noFill/>
          <a:ln/>
        </p:spPr>
        <p:txBody>
          <a:bodyPr vert="horz" wrap="square" lIns="0" tIns="0" rIns="0" bIns="0" rtlCol="0" anchor="t"/>
          <a:lstStyle/>
          <a:p>
            <a:pPr marL="0" indent="0">
              <a:lnSpc>
                <a:spcPts val="1800"/>
              </a:lnSpc>
              <a:buNone/>
            </a:pPr>
            <a:r>
              <a:rPr lang="en-US" sz="1200" dirty="0">
                <a:solidFill>
                  <a:srgbClr val="374151"/>
                </a:solidFill>
                <a:latin typeface="標楷體" panose="03000509000000000000" pitchFamily="65" charset="-120"/>
                <a:ea typeface="標楷體" panose="03000509000000000000" pitchFamily="65" charset="-120"/>
                <a:cs typeface="ui-sans-serif" pitchFamily="34" charset="-120"/>
              </a:rPr>
              <a:t>最大程度地降低数据洩露风险，增加使用者信任</a:t>
            </a:r>
            <a:endParaRPr lang="en-US" sz="1200" dirty="0">
              <a:latin typeface="標楷體" panose="03000509000000000000" pitchFamily="65" charset="-120"/>
              <a:ea typeface="標楷體" panose="03000509000000000000" pitchFamily="65" charset="-12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2192000" cy="6858000"/>
          </a:xfrm>
          <a:prstGeom prst="rect">
            <a:avLst/>
          </a:prstGeom>
        </p:spPr>
      </p:pic>
      <p:pic>
        <p:nvPicPr>
          <p:cNvPr id="3" name="Image 1" descr="preencoded.png"/>
          <p:cNvPicPr>
            <a:picLocks noChangeAspect="1"/>
          </p:cNvPicPr>
          <p:nvPr/>
        </p:nvPicPr>
        <p:blipFill>
          <a:blip r:embed="rId4"/>
          <a:stretch>
            <a:fillRect/>
          </a:stretch>
        </p:blipFill>
        <p:spPr>
          <a:xfrm>
            <a:off x="0" y="0"/>
            <a:ext cx="12192000" cy="952500"/>
          </a:xfrm>
          <a:prstGeom prst="rect">
            <a:avLst/>
          </a:prstGeom>
        </p:spPr>
      </p:pic>
      <p:pic>
        <p:nvPicPr>
          <p:cNvPr id="4" name="Image 2" descr="preencoded.png"/>
          <p:cNvPicPr>
            <a:picLocks noChangeAspect="1"/>
          </p:cNvPicPr>
          <p:nvPr/>
        </p:nvPicPr>
        <p:blipFill>
          <a:blip r:embed="rId5"/>
          <a:stretch>
            <a:fillRect/>
          </a:stretch>
        </p:blipFill>
        <p:spPr>
          <a:xfrm>
            <a:off x="381000" y="1981200"/>
            <a:ext cx="5600700" cy="1409700"/>
          </a:xfrm>
          <a:prstGeom prst="rect">
            <a:avLst/>
          </a:prstGeom>
        </p:spPr>
      </p:pic>
      <p:pic>
        <p:nvPicPr>
          <p:cNvPr id="5" name="Image 3" descr="preencoded.png"/>
          <p:cNvPicPr>
            <a:picLocks noChangeAspect="1"/>
          </p:cNvPicPr>
          <p:nvPr/>
        </p:nvPicPr>
        <p:blipFill>
          <a:blip r:embed="rId6"/>
          <a:stretch>
            <a:fillRect/>
          </a:stretch>
        </p:blipFill>
        <p:spPr>
          <a:xfrm>
            <a:off x="571500" y="2171700"/>
            <a:ext cx="571500" cy="571500"/>
          </a:xfrm>
          <a:prstGeom prst="rect">
            <a:avLst/>
          </a:prstGeom>
        </p:spPr>
      </p:pic>
      <p:pic>
        <p:nvPicPr>
          <p:cNvPr id="6" name="Image 4" descr="preencoded.png"/>
          <p:cNvPicPr>
            <a:picLocks noChangeAspect="1"/>
          </p:cNvPicPr>
          <p:nvPr/>
        </p:nvPicPr>
        <p:blipFill>
          <a:blip r:embed="rId7"/>
          <a:stretch>
            <a:fillRect/>
          </a:stretch>
        </p:blipFill>
        <p:spPr>
          <a:xfrm>
            <a:off x="742950" y="2305050"/>
            <a:ext cx="228600" cy="304800"/>
          </a:xfrm>
          <a:prstGeom prst="rect">
            <a:avLst/>
          </a:prstGeom>
        </p:spPr>
      </p:pic>
      <p:pic>
        <p:nvPicPr>
          <p:cNvPr id="7" name="Image 5" descr="preencoded.png"/>
          <p:cNvPicPr>
            <a:picLocks noChangeAspect="1"/>
          </p:cNvPicPr>
          <p:nvPr/>
        </p:nvPicPr>
        <p:blipFill>
          <a:blip r:embed="rId8"/>
          <a:stretch>
            <a:fillRect/>
          </a:stretch>
        </p:blipFill>
        <p:spPr>
          <a:xfrm>
            <a:off x="6210300" y="1981200"/>
            <a:ext cx="5600700" cy="1409700"/>
          </a:xfrm>
          <a:prstGeom prst="rect">
            <a:avLst/>
          </a:prstGeom>
        </p:spPr>
      </p:pic>
      <p:pic>
        <p:nvPicPr>
          <p:cNvPr id="8" name="Image 6" descr="preencoded.png"/>
          <p:cNvPicPr>
            <a:picLocks noChangeAspect="1"/>
          </p:cNvPicPr>
          <p:nvPr/>
        </p:nvPicPr>
        <p:blipFill>
          <a:blip r:embed="rId9"/>
          <a:stretch>
            <a:fillRect/>
          </a:stretch>
        </p:blipFill>
        <p:spPr>
          <a:xfrm>
            <a:off x="6400800" y="2171700"/>
            <a:ext cx="571500" cy="571500"/>
          </a:xfrm>
          <a:prstGeom prst="rect">
            <a:avLst/>
          </a:prstGeom>
        </p:spPr>
      </p:pic>
      <p:pic>
        <p:nvPicPr>
          <p:cNvPr id="9" name="Image 7" descr="preencoded.png"/>
          <p:cNvPicPr>
            <a:picLocks noChangeAspect="1"/>
          </p:cNvPicPr>
          <p:nvPr/>
        </p:nvPicPr>
        <p:blipFill>
          <a:blip r:embed="rId10"/>
          <a:stretch>
            <a:fillRect/>
          </a:stretch>
        </p:blipFill>
        <p:spPr>
          <a:xfrm>
            <a:off x="6543675" y="2305050"/>
            <a:ext cx="285750" cy="304800"/>
          </a:xfrm>
          <a:prstGeom prst="rect">
            <a:avLst/>
          </a:prstGeom>
        </p:spPr>
      </p:pic>
      <p:pic>
        <p:nvPicPr>
          <p:cNvPr id="10" name="Image 8" descr="preencoded.png"/>
          <p:cNvPicPr>
            <a:picLocks noChangeAspect="1"/>
          </p:cNvPicPr>
          <p:nvPr/>
        </p:nvPicPr>
        <p:blipFill>
          <a:blip r:embed="rId11"/>
          <a:stretch>
            <a:fillRect/>
          </a:stretch>
        </p:blipFill>
        <p:spPr>
          <a:xfrm>
            <a:off x="381000" y="3619500"/>
            <a:ext cx="5600700" cy="1409700"/>
          </a:xfrm>
          <a:prstGeom prst="rect">
            <a:avLst/>
          </a:prstGeom>
        </p:spPr>
      </p:pic>
      <p:pic>
        <p:nvPicPr>
          <p:cNvPr id="11" name="Image 9" descr="preencoded.png"/>
          <p:cNvPicPr>
            <a:picLocks noChangeAspect="1"/>
          </p:cNvPicPr>
          <p:nvPr/>
        </p:nvPicPr>
        <p:blipFill>
          <a:blip r:embed="rId12"/>
          <a:stretch>
            <a:fillRect/>
          </a:stretch>
        </p:blipFill>
        <p:spPr>
          <a:xfrm>
            <a:off x="571500" y="3810000"/>
            <a:ext cx="571500" cy="571500"/>
          </a:xfrm>
          <a:prstGeom prst="rect">
            <a:avLst/>
          </a:prstGeom>
        </p:spPr>
      </p:pic>
      <p:pic>
        <p:nvPicPr>
          <p:cNvPr id="12" name="Image 10" descr="preencoded.png"/>
          <p:cNvPicPr>
            <a:picLocks noChangeAspect="1"/>
          </p:cNvPicPr>
          <p:nvPr/>
        </p:nvPicPr>
        <p:blipFill>
          <a:blip r:embed="rId13"/>
          <a:stretch>
            <a:fillRect/>
          </a:stretch>
        </p:blipFill>
        <p:spPr>
          <a:xfrm>
            <a:off x="714375" y="3943350"/>
            <a:ext cx="285750" cy="304800"/>
          </a:xfrm>
          <a:prstGeom prst="rect">
            <a:avLst/>
          </a:prstGeom>
        </p:spPr>
      </p:pic>
      <p:pic>
        <p:nvPicPr>
          <p:cNvPr id="13" name="Image 11" descr="preencoded.png"/>
          <p:cNvPicPr>
            <a:picLocks noChangeAspect="1"/>
          </p:cNvPicPr>
          <p:nvPr/>
        </p:nvPicPr>
        <p:blipFill>
          <a:blip r:embed="rId14"/>
          <a:stretch>
            <a:fillRect/>
          </a:stretch>
        </p:blipFill>
        <p:spPr>
          <a:xfrm>
            <a:off x="6210300" y="3619500"/>
            <a:ext cx="5600700" cy="1409700"/>
          </a:xfrm>
          <a:prstGeom prst="rect">
            <a:avLst/>
          </a:prstGeom>
        </p:spPr>
      </p:pic>
      <p:pic>
        <p:nvPicPr>
          <p:cNvPr id="14" name="Image 12" descr="preencoded.png"/>
          <p:cNvPicPr>
            <a:picLocks noChangeAspect="1"/>
          </p:cNvPicPr>
          <p:nvPr/>
        </p:nvPicPr>
        <p:blipFill>
          <a:blip r:embed="rId15"/>
          <a:stretch>
            <a:fillRect/>
          </a:stretch>
        </p:blipFill>
        <p:spPr>
          <a:xfrm>
            <a:off x="6400800" y="3810000"/>
            <a:ext cx="571500" cy="571500"/>
          </a:xfrm>
          <a:prstGeom prst="rect">
            <a:avLst/>
          </a:prstGeom>
        </p:spPr>
      </p:pic>
      <p:pic>
        <p:nvPicPr>
          <p:cNvPr id="15" name="Image 13" descr="preencoded.png"/>
          <p:cNvPicPr>
            <a:picLocks noChangeAspect="1"/>
          </p:cNvPicPr>
          <p:nvPr/>
        </p:nvPicPr>
        <p:blipFill>
          <a:blip r:embed="rId16"/>
          <a:stretch>
            <a:fillRect/>
          </a:stretch>
        </p:blipFill>
        <p:spPr>
          <a:xfrm>
            <a:off x="6572250" y="3943350"/>
            <a:ext cx="228600" cy="304800"/>
          </a:xfrm>
          <a:prstGeom prst="rect">
            <a:avLst/>
          </a:prstGeom>
        </p:spPr>
      </p:pic>
      <p:sp>
        <p:nvSpPr>
          <p:cNvPr id="16" name="Text 0"/>
          <p:cNvSpPr/>
          <p:nvPr/>
        </p:nvSpPr>
        <p:spPr>
          <a:xfrm>
            <a:off x="609600" y="285750"/>
            <a:ext cx="4937760" cy="381000"/>
          </a:xfrm>
          <a:prstGeom prst="rect">
            <a:avLst/>
          </a:prstGeom>
          <a:noFill/>
          <a:ln/>
        </p:spPr>
        <p:txBody>
          <a:bodyPr vert="horz" wrap="square" lIns="0" tIns="0" rIns="0" bIns="0" rtlCol="0" anchor="t"/>
          <a:lstStyle/>
          <a:p>
            <a:pPr marL="0" indent="0">
              <a:lnSpc>
                <a:spcPts val="3000"/>
              </a:lnSpc>
              <a:buNone/>
            </a:pPr>
            <a:r>
              <a:rPr lang="en-US" sz="2700" b="1" dirty="0">
                <a:solidFill>
                  <a:srgbClr val="FFFFFF"/>
                </a:solidFill>
                <a:latin typeface="標楷體" panose="03000509000000000000" pitchFamily="65" charset="-120"/>
                <a:ea typeface="標楷體" panose="03000509000000000000" pitchFamily="65" charset="-120"/>
                <a:cs typeface="ui-sans-serif" pitchFamily="34" charset="-120"/>
              </a:rPr>
              <a:t>成效預估：衍生服務可行性</a:t>
            </a:r>
            <a:endParaRPr lang="en-US" sz="2700" dirty="0">
              <a:latin typeface="標楷體" panose="03000509000000000000" pitchFamily="65" charset="-120"/>
              <a:ea typeface="標楷體" panose="03000509000000000000" pitchFamily="65" charset="-120"/>
            </a:endParaRPr>
          </a:p>
        </p:txBody>
      </p:sp>
      <p:sp>
        <p:nvSpPr>
          <p:cNvPr id="17" name="Text 1"/>
          <p:cNvSpPr/>
          <p:nvPr/>
        </p:nvSpPr>
        <p:spPr>
          <a:xfrm>
            <a:off x="381000" y="1333500"/>
            <a:ext cx="13716000" cy="266700"/>
          </a:xfrm>
          <a:prstGeom prst="rect">
            <a:avLst/>
          </a:prstGeom>
          <a:noFill/>
          <a:ln/>
        </p:spPr>
        <p:txBody>
          <a:bodyPr vert="horz" wrap="square" lIns="0" tIns="0" rIns="0" bIns="0" rtlCol="0" anchor="t"/>
          <a:lstStyle/>
          <a:p>
            <a:pPr marL="0" indent="0">
              <a:lnSpc>
                <a:spcPts val="2100"/>
              </a:lnSpc>
              <a:buNone/>
            </a:pPr>
            <a:r>
              <a:rPr lang="en-US" sz="1500" dirty="0">
                <a:solidFill>
                  <a:srgbClr val="374151"/>
                </a:solidFill>
                <a:latin typeface="標楷體" panose="03000509000000000000" pitchFamily="65" charset="-120"/>
                <a:ea typeface="標楷體" panose="03000509000000000000" pitchFamily="65" charset="-120"/>
                <a:cs typeface="ui-sans-serif" pitchFamily="34" charset="-120"/>
              </a:rPr>
              <a:t>WearWise基於模組化與標準化的JSON數據核心，具備高度擴充性與多樣化衍生服務發展潛力</a:t>
            </a:r>
            <a:endParaRPr lang="en-US" sz="1500" dirty="0">
              <a:latin typeface="標楷體" panose="03000509000000000000" pitchFamily="65" charset="-120"/>
              <a:ea typeface="標楷體" panose="03000509000000000000" pitchFamily="65" charset="-120"/>
            </a:endParaRPr>
          </a:p>
        </p:txBody>
      </p:sp>
      <p:sp>
        <p:nvSpPr>
          <p:cNvPr id="18" name="Text 2"/>
          <p:cNvSpPr/>
          <p:nvPr/>
        </p:nvSpPr>
        <p:spPr>
          <a:xfrm>
            <a:off x="1295400" y="2171700"/>
            <a:ext cx="4495800" cy="266700"/>
          </a:xfrm>
          <a:prstGeom prst="rect">
            <a:avLst/>
          </a:prstGeom>
          <a:noFill/>
          <a:ln/>
        </p:spPr>
        <p:txBody>
          <a:bodyPr vert="horz" wrap="square" lIns="0" tIns="0" rIns="0" bIns="0" rtlCol="0" anchor="t"/>
          <a:lstStyle/>
          <a:p>
            <a:pPr marL="0" indent="0">
              <a:lnSpc>
                <a:spcPts val="2100"/>
              </a:lnSpc>
              <a:buNone/>
            </a:pPr>
            <a:r>
              <a:rPr lang="en-US" sz="1500" b="1" dirty="0">
                <a:solidFill>
                  <a:srgbClr val="1F2937"/>
                </a:solidFill>
                <a:latin typeface="標楷體" panose="03000509000000000000" pitchFamily="65" charset="-120"/>
                <a:ea typeface="標楷體" panose="03000509000000000000" pitchFamily="65" charset="-120"/>
                <a:cs typeface="ui-sans-serif" pitchFamily="34" charset="-120"/>
              </a:rPr>
              <a:t>旅行模式：智慧打包清單</a:t>
            </a:r>
            <a:endParaRPr lang="en-US" sz="1500" dirty="0">
              <a:latin typeface="標楷體" panose="03000509000000000000" pitchFamily="65" charset="-120"/>
              <a:ea typeface="標楷體" panose="03000509000000000000" pitchFamily="65" charset="-120"/>
            </a:endParaRPr>
          </a:p>
        </p:txBody>
      </p:sp>
      <p:sp>
        <p:nvSpPr>
          <p:cNvPr id="19" name="Text 3"/>
          <p:cNvSpPr/>
          <p:nvPr/>
        </p:nvSpPr>
        <p:spPr>
          <a:xfrm>
            <a:off x="1295400" y="2514600"/>
            <a:ext cx="4495800" cy="685800"/>
          </a:xfrm>
          <a:prstGeom prst="rect">
            <a:avLst/>
          </a:prstGeom>
          <a:noFill/>
          <a:ln/>
        </p:spPr>
        <p:txBody>
          <a:bodyPr vert="horz" wrap="square" lIns="0" tIns="0" rIns="0" bIns="0" rtlCol="0" anchor="t"/>
          <a:lstStyle/>
          <a:p>
            <a:pPr marL="0" indent="0">
              <a:lnSpc>
                <a:spcPts val="1800"/>
              </a:lnSpc>
              <a:buNone/>
            </a:pPr>
            <a:r>
              <a:rPr lang="en-US" sz="1200" dirty="0">
                <a:solidFill>
                  <a:srgbClr val="4B5563"/>
                </a:solidFill>
                <a:latin typeface="標楷體" panose="03000509000000000000" pitchFamily="65" charset="-120"/>
                <a:ea typeface="標楷體" panose="03000509000000000000" pitchFamily="65" charset="-120"/>
                <a:cs typeface="ui-sans-serif" pitchFamily="34" charset="-120"/>
              </a:rPr>
              <a:t>根據目的地氣候、旅行天数與行程類型（商務、度假等），AI自動生成最佳化行李打包清單，考慮衣物重複穿搭性，避免遺漏或攜帶過多不必要的衣物。</a:t>
            </a:r>
            <a:endParaRPr lang="en-US" sz="1200" dirty="0">
              <a:latin typeface="標楷體" panose="03000509000000000000" pitchFamily="65" charset="-120"/>
              <a:ea typeface="標楷體" panose="03000509000000000000" pitchFamily="65" charset="-120"/>
            </a:endParaRPr>
          </a:p>
        </p:txBody>
      </p:sp>
      <p:sp>
        <p:nvSpPr>
          <p:cNvPr id="20" name="Text 4"/>
          <p:cNvSpPr/>
          <p:nvPr/>
        </p:nvSpPr>
        <p:spPr>
          <a:xfrm>
            <a:off x="7124700" y="2171700"/>
            <a:ext cx="4495800" cy="266700"/>
          </a:xfrm>
          <a:prstGeom prst="rect">
            <a:avLst/>
          </a:prstGeom>
          <a:noFill/>
          <a:ln/>
        </p:spPr>
        <p:txBody>
          <a:bodyPr vert="horz" wrap="square" lIns="0" tIns="0" rIns="0" bIns="0" rtlCol="0" anchor="t"/>
          <a:lstStyle/>
          <a:p>
            <a:pPr marL="0" indent="0">
              <a:lnSpc>
                <a:spcPts val="2100"/>
              </a:lnSpc>
              <a:buNone/>
            </a:pPr>
            <a:r>
              <a:rPr lang="en-US" sz="1500" b="1" dirty="0">
                <a:solidFill>
                  <a:srgbClr val="1F2937"/>
                </a:solidFill>
                <a:latin typeface="標楷體" panose="03000509000000000000" pitchFamily="65" charset="-120"/>
                <a:ea typeface="標楷體" panose="03000509000000000000" pitchFamily="65" charset="-120"/>
                <a:cs typeface="ui-sans-serif" pitchFamily="34" charset="-120"/>
              </a:rPr>
              <a:t>家庭共享衣櫥</a:t>
            </a:r>
            <a:endParaRPr lang="en-US" sz="1500" dirty="0">
              <a:latin typeface="標楷體" panose="03000509000000000000" pitchFamily="65" charset="-120"/>
              <a:ea typeface="標楷體" panose="03000509000000000000" pitchFamily="65" charset="-120"/>
            </a:endParaRPr>
          </a:p>
        </p:txBody>
      </p:sp>
      <p:sp>
        <p:nvSpPr>
          <p:cNvPr id="21" name="Text 5"/>
          <p:cNvSpPr/>
          <p:nvPr/>
        </p:nvSpPr>
        <p:spPr>
          <a:xfrm>
            <a:off x="7124700" y="2514600"/>
            <a:ext cx="4495800" cy="685800"/>
          </a:xfrm>
          <a:prstGeom prst="rect">
            <a:avLst/>
          </a:prstGeom>
          <a:noFill/>
          <a:ln/>
        </p:spPr>
        <p:txBody>
          <a:bodyPr vert="horz" wrap="square" lIns="0" tIns="0" rIns="0" bIns="0" rtlCol="0" anchor="t"/>
          <a:lstStyle/>
          <a:p>
            <a:pPr marL="0" indent="0">
              <a:lnSpc>
                <a:spcPts val="1800"/>
              </a:lnSpc>
              <a:buNone/>
            </a:pPr>
            <a:r>
              <a:rPr lang="en-US" sz="1200" dirty="0">
                <a:solidFill>
                  <a:srgbClr val="4B5563"/>
                </a:solidFill>
                <a:latin typeface="標楷體" panose="03000509000000000000" pitchFamily="65" charset="-120"/>
                <a:ea typeface="標楷體" panose="03000509000000000000" pitchFamily="65" charset="-120"/>
                <a:cs typeface="ui-sans-serif" pitchFamily="34" charset="-120"/>
              </a:rPr>
              <a:t>支援家庭成員或情侶間的衣物資訊共享與協同推薦。系統能智慧推薦可共穿的單品搭配，或在為一人推薦時考量另一人的衣物風格，增進家庭成員間的穿搭樂趣與效率。</a:t>
            </a:r>
            <a:endParaRPr lang="en-US" sz="1200" dirty="0">
              <a:latin typeface="標楷體" panose="03000509000000000000" pitchFamily="65" charset="-120"/>
              <a:ea typeface="標楷體" panose="03000509000000000000" pitchFamily="65" charset="-120"/>
            </a:endParaRPr>
          </a:p>
        </p:txBody>
      </p:sp>
      <p:sp>
        <p:nvSpPr>
          <p:cNvPr id="22" name="Text 6"/>
          <p:cNvSpPr/>
          <p:nvPr/>
        </p:nvSpPr>
        <p:spPr>
          <a:xfrm>
            <a:off x="1295400" y="3810000"/>
            <a:ext cx="4495800" cy="266700"/>
          </a:xfrm>
          <a:prstGeom prst="rect">
            <a:avLst/>
          </a:prstGeom>
          <a:noFill/>
          <a:ln/>
        </p:spPr>
        <p:txBody>
          <a:bodyPr vert="horz" wrap="square" lIns="0" tIns="0" rIns="0" bIns="0" rtlCol="0" anchor="t"/>
          <a:lstStyle/>
          <a:p>
            <a:pPr marL="0" indent="0">
              <a:lnSpc>
                <a:spcPts val="2100"/>
              </a:lnSpc>
              <a:buNone/>
            </a:pPr>
            <a:r>
              <a:rPr lang="en-US" sz="1500" b="1" dirty="0">
                <a:solidFill>
                  <a:srgbClr val="1F2937"/>
                </a:solidFill>
                <a:latin typeface="標楷體" panose="03000509000000000000" pitchFamily="65" charset="-120"/>
                <a:ea typeface="標楷體" panose="03000509000000000000" pitchFamily="65" charset="-120"/>
                <a:cs typeface="ui-sans-serif" pitchFamily="34" charset="-120"/>
              </a:rPr>
              <a:t>智慧穿搭鏡：虛擬試穿</a:t>
            </a:r>
            <a:endParaRPr lang="en-US" sz="1500" dirty="0">
              <a:latin typeface="標楷體" panose="03000509000000000000" pitchFamily="65" charset="-120"/>
              <a:ea typeface="標楷體" panose="03000509000000000000" pitchFamily="65" charset="-120"/>
            </a:endParaRPr>
          </a:p>
        </p:txBody>
      </p:sp>
      <p:sp>
        <p:nvSpPr>
          <p:cNvPr id="23" name="Text 7"/>
          <p:cNvSpPr/>
          <p:nvPr/>
        </p:nvSpPr>
        <p:spPr>
          <a:xfrm>
            <a:off x="1295400" y="4152900"/>
            <a:ext cx="4495800" cy="685800"/>
          </a:xfrm>
          <a:prstGeom prst="rect">
            <a:avLst/>
          </a:prstGeom>
          <a:noFill/>
          <a:ln/>
        </p:spPr>
        <p:txBody>
          <a:bodyPr vert="horz" wrap="square" lIns="0" tIns="0" rIns="0" bIns="0" rtlCol="0" anchor="t"/>
          <a:lstStyle/>
          <a:p>
            <a:pPr marL="0" indent="0">
              <a:lnSpc>
                <a:spcPts val="1800"/>
              </a:lnSpc>
              <a:buNone/>
            </a:pPr>
            <a:r>
              <a:rPr lang="en-US" sz="1200" dirty="0">
                <a:solidFill>
                  <a:srgbClr val="4B5563"/>
                </a:solidFill>
                <a:latin typeface="標楷體" panose="03000509000000000000" pitchFamily="65" charset="-120"/>
                <a:ea typeface="標楷體" panose="03000509000000000000" pitchFamily="65" charset="-120"/>
                <a:cs typeface="ui-sans-serif" pitchFamily="34" charset="-120"/>
              </a:rPr>
              <a:t>整合生成式AI的最新進展，提供2D甚至3D的虛擬試穿效果。使用者在出門前可直接在手機或智慧螢幕上預覽不同搭配穿在自己身上的效果，進一步提升決策效率與滿意度。</a:t>
            </a:r>
            <a:endParaRPr lang="en-US" sz="1200" dirty="0">
              <a:latin typeface="標楷體" panose="03000509000000000000" pitchFamily="65" charset="-120"/>
              <a:ea typeface="標楷體" panose="03000509000000000000" pitchFamily="65" charset="-120"/>
            </a:endParaRPr>
          </a:p>
        </p:txBody>
      </p:sp>
      <p:sp>
        <p:nvSpPr>
          <p:cNvPr id="24" name="Text 8"/>
          <p:cNvSpPr/>
          <p:nvPr/>
        </p:nvSpPr>
        <p:spPr>
          <a:xfrm>
            <a:off x="7124700" y="3810000"/>
            <a:ext cx="4495800" cy="266700"/>
          </a:xfrm>
          <a:prstGeom prst="rect">
            <a:avLst/>
          </a:prstGeom>
          <a:noFill/>
          <a:ln/>
        </p:spPr>
        <p:txBody>
          <a:bodyPr vert="horz" wrap="square" lIns="0" tIns="0" rIns="0" bIns="0" rtlCol="0" anchor="t"/>
          <a:lstStyle/>
          <a:p>
            <a:pPr marL="0" indent="0">
              <a:lnSpc>
                <a:spcPts val="2100"/>
              </a:lnSpc>
              <a:buNone/>
            </a:pPr>
            <a:r>
              <a:rPr lang="en-US" sz="1500" b="1" dirty="0">
                <a:solidFill>
                  <a:srgbClr val="1F2937"/>
                </a:solidFill>
                <a:latin typeface="標楷體" panose="03000509000000000000" pitchFamily="65" charset="-120"/>
                <a:ea typeface="標楷體" panose="03000509000000000000" pitchFamily="65" charset="-120"/>
                <a:cs typeface="ui-sans-serif" pitchFamily="34" charset="-120"/>
              </a:rPr>
              <a:t>永續分析與時尚循環</a:t>
            </a:r>
            <a:endParaRPr lang="en-US" sz="1500" dirty="0">
              <a:latin typeface="標楷體" panose="03000509000000000000" pitchFamily="65" charset="-120"/>
              <a:ea typeface="標楷體" panose="03000509000000000000" pitchFamily="65" charset="-120"/>
            </a:endParaRPr>
          </a:p>
        </p:txBody>
      </p:sp>
      <p:sp>
        <p:nvSpPr>
          <p:cNvPr id="25" name="Text 9"/>
          <p:cNvSpPr/>
          <p:nvPr/>
        </p:nvSpPr>
        <p:spPr>
          <a:xfrm>
            <a:off x="7124700" y="4152900"/>
            <a:ext cx="4495800" cy="685800"/>
          </a:xfrm>
          <a:prstGeom prst="rect">
            <a:avLst/>
          </a:prstGeom>
          <a:noFill/>
          <a:ln/>
        </p:spPr>
        <p:txBody>
          <a:bodyPr vert="horz" wrap="square" lIns="0" tIns="0" rIns="0" bIns="0" rtlCol="0" anchor="t"/>
          <a:lstStyle/>
          <a:p>
            <a:pPr marL="0" indent="0">
              <a:lnSpc>
                <a:spcPts val="1800"/>
              </a:lnSpc>
              <a:buNone/>
            </a:pPr>
            <a:r>
              <a:rPr lang="en-US" sz="1200" dirty="0">
                <a:solidFill>
                  <a:srgbClr val="4B5563"/>
                </a:solidFill>
                <a:latin typeface="標楷體" panose="03000509000000000000" pitchFamily="65" charset="-120"/>
                <a:ea typeface="標楷體" panose="03000509000000000000" pitchFamily="65" charset="-120"/>
                <a:cs typeface="ui-sans-serif" pitchFamily="34" charset="-120"/>
              </a:rPr>
              <a:t>引入衣物質料、品牌、購買日期與使用頻率等數據，為使用者提供「衣物碳足跡」與「單次穿著成本」分析報告，提升永續時尚意識。未來更可對接二手交易平台或衣物回收服務。</a:t>
            </a:r>
            <a:endParaRPr lang="en-US" sz="1200" dirty="0">
              <a:latin typeface="標楷體" panose="03000509000000000000" pitchFamily="65" charset="-120"/>
              <a:ea typeface="標楷體" panose="03000509000000000000" pitchFamily="65" charset="-12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2192000" cy="6934200"/>
          </a:xfrm>
          <a:prstGeom prst="rect">
            <a:avLst/>
          </a:prstGeom>
        </p:spPr>
      </p:pic>
      <p:pic>
        <p:nvPicPr>
          <p:cNvPr id="3" name="Image 1" descr="preencoded.png"/>
          <p:cNvPicPr>
            <a:picLocks noChangeAspect="1"/>
          </p:cNvPicPr>
          <p:nvPr/>
        </p:nvPicPr>
        <p:blipFill>
          <a:blip r:embed="rId4"/>
          <a:stretch>
            <a:fillRect/>
          </a:stretch>
        </p:blipFill>
        <p:spPr>
          <a:xfrm>
            <a:off x="0" y="0"/>
            <a:ext cx="12192000" cy="952500"/>
          </a:xfrm>
          <a:prstGeom prst="rect">
            <a:avLst/>
          </a:prstGeom>
        </p:spPr>
      </p:pic>
      <p:pic>
        <p:nvPicPr>
          <p:cNvPr id="4" name="Image 2" descr="preencoded.png"/>
          <p:cNvPicPr>
            <a:picLocks noChangeAspect="1"/>
          </p:cNvPicPr>
          <p:nvPr/>
        </p:nvPicPr>
        <p:blipFill>
          <a:blip r:embed="rId5"/>
          <a:stretch>
            <a:fillRect/>
          </a:stretch>
        </p:blipFill>
        <p:spPr>
          <a:xfrm>
            <a:off x="381000" y="1828800"/>
            <a:ext cx="3657600" cy="3619500"/>
          </a:xfrm>
          <a:prstGeom prst="rect">
            <a:avLst/>
          </a:prstGeom>
        </p:spPr>
      </p:pic>
      <p:pic>
        <p:nvPicPr>
          <p:cNvPr id="5" name="Image 3" descr="preencoded.png"/>
          <p:cNvPicPr>
            <a:picLocks noChangeAspect="1"/>
          </p:cNvPicPr>
          <p:nvPr/>
        </p:nvPicPr>
        <p:blipFill>
          <a:blip r:embed="rId6"/>
          <a:stretch>
            <a:fillRect/>
          </a:stretch>
        </p:blipFill>
        <p:spPr>
          <a:xfrm>
            <a:off x="609600" y="2057400"/>
            <a:ext cx="666750" cy="666750"/>
          </a:xfrm>
          <a:prstGeom prst="rect">
            <a:avLst/>
          </a:prstGeom>
        </p:spPr>
      </p:pic>
      <p:pic>
        <p:nvPicPr>
          <p:cNvPr id="6" name="Image 4" descr="preencoded.png"/>
          <p:cNvPicPr>
            <a:picLocks noChangeAspect="1"/>
          </p:cNvPicPr>
          <p:nvPr/>
        </p:nvPicPr>
        <p:blipFill>
          <a:blip r:embed="rId7"/>
          <a:stretch>
            <a:fillRect/>
          </a:stretch>
        </p:blipFill>
        <p:spPr>
          <a:xfrm>
            <a:off x="833438" y="2219325"/>
            <a:ext cx="219075" cy="342900"/>
          </a:xfrm>
          <a:prstGeom prst="rect">
            <a:avLst/>
          </a:prstGeom>
        </p:spPr>
      </p:pic>
      <p:pic>
        <p:nvPicPr>
          <p:cNvPr id="7" name="Image 5" descr="preencoded.png"/>
          <p:cNvPicPr>
            <a:picLocks noChangeAspect="1"/>
          </p:cNvPicPr>
          <p:nvPr/>
        </p:nvPicPr>
        <p:blipFill>
          <a:blip r:embed="rId8"/>
          <a:stretch>
            <a:fillRect/>
          </a:stretch>
        </p:blipFill>
        <p:spPr>
          <a:xfrm>
            <a:off x="609600" y="2990850"/>
            <a:ext cx="152400" cy="152400"/>
          </a:xfrm>
          <a:prstGeom prst="rect">
            <a:avLst/>
          </a:prstGeom>
        </p:spPr>
      </p:pic>
      <p:pic>
        <p:nvPicPr>
          <p:cNvPr id="8" name="Image 6" descr="preencoded.png"/>
          <p:cNvPicPr>
            <a:picLocks noChangeAspect="1"/>
          </p:cNvPicPr>
          <p:nvPr/>
        </p:nvPicPr>
        <p:blipFill>
          <a:blip r:embed="rId8"/>
          <a:stretch>
            <a:fillRect/>
          </a:stretch>
        </p:blipFill>
        <p:spPr>
          <a:xfrm>
            <a:off x="609600" y="3562350"/>
            <a:ext cx="152400" cy="152400"/>
          </a:xfrm>
          <a:prstGeom prst="rect">
            <a:avLst/>
          </a:prstGeom>
        </p:spPr>
      </p:pic>
      <p:pic>
        <p:nvPicPr>
          <p:cNvPr id="9" name="Image 7" descr="preencoded.png"/>
          <p:cNvPicPr>
            <a:picLocks noChangeAspect="1"/>
          </p:cNvPicPr>
          <p:nvPr/>
        </p:nvPicPr>
        <p:blipFill>
          <a:blip r:embed="rId8"/>
          <a:stretch>
            <a:fillRect/>
          </a:stretch>
        </p:blipFill>
        <p:spPr>
          <a:xfrm>
            <a:off x="609600" y="4133850"/>
            <a:ext cx="152400" cy="152400"/>
          </a:xfrm>
          <a:prstGeom prst="rect">
            <a:avLst/>
          </a:prstGeom>
        </p:spPr>
      </p:pic>
      <p:pic>
        <p:nvPicPr>
          <p:cNvPr id="11" name="Image 9" descr="preencoded.png"/>
          <p:cNvPicPr>
            <a:picLocks noChangeAspect="1"/>
          </p:cNvPicPr>
          <p:nvPr/>
        </p:nvPicPr>
        <p:blipFill>
          <a:blip r:embed="rId9"/>
          <a:stretch>
            <a:fillRect/>
          </a:stretch>
        </p:blipFill>
        <p:spPr>
          <a:xfrm>
            <a:off x="4267200" y="1828800"/>
            <a:ext cx="3657600" cy="3619500"/>
          </a:xfrm>
          <a:prstGeom prst="rect">
            <a:avLst/>
          </a:prstGeom>
        </p:spPr>
      </p:pic>
      <p:pic>
        <p:nvPicPr>
          <p:cNvPr id="12" name="Image 10" descr="preencoded.png"/>
          <p:cNvPicPr>
            <a:picLocks noChangeAspect="1"/>
          </p:cNvPicPr>
          <p:nvPr/>
        </p:nvPicPr>
        <p:blipFill>
          <a:blip r:embed="rId10"/>
          <a:stretch>
            <a:fillRect/>
          </a:stretch>
        </p:blipFill>
        <p:spPr>
          <a:xfrm>
            <a:off x="4495800" y="2057400"/>
            <a:ext cx="666750" cy="666750"/>
          </a:xfrm>
          <a:prstGeom prst="rect">
            <a:avLst/>
          </a:prstGeom>
        </p:spPr>
      </p:pic>
      <p:pic>
        <p:nvPicPr>
          <p:cNvPr id="13" name="Image 11" descr="preencoded.png"/>
          <p:cNvPicPr>
            <a:picLocks noChangeAspect="1"/>
          </p:cNvPicPr>
          <p:nvPr/>
        </p:nvPicPr>
        <p:blipFill>
          <a:blip r:embed="rId11"/>
          <a:stretch>
            <a:fillRect/>
          </a:stretch>
        </p:blipFill>
        <p:spPr>
          <a:xfrm>
            <a:off x="4648200" y="2219325"/>
            <a:ext cx="361950" cy="342900"/>
          </a:xfrm>
          <a:prstGeom prst="rect">
            <a:avLst/>
          </a:prstGeom>
        </p:spPr>
      </p:pic>
      <p:pic>
        <p:nvPicPr>
          <p:cNvPr id="14" name="Image 12" descr="preencoded.png"/>
          <p:cNvPicPr>
            <a:picLocks noChangeAspect="1"/>
          </p:cNvPicPr>
          <p:nvPr/>
        </p:nvPicPr>
        <p:blipFill>
          <a:blip r:embed="rId12"/>
          <a:stretch>
            <a:fillRect/>
          </a:stretch>
        </p:blipFill>
        <p:spPr>
          <a:xfrm>
            <a:off x="4495800" y="2990850"/>
            <a:ext cx="152400" cy="152400"/>
          </a:xfrm>
          <a:prstGeom prst="rect">
            <a:avLst/>
          </a:prstGeom>
        </p:spPr>
      </p:pic>
      <p:pic>
        <p:nvPicPr>
          <p:cNvPr id="15" name="Image 13" descr="preencoded.png"/>
          <p:cNvPicPr>
            <a:picLocks noChangeAspect="1"/>
          </p:cNvPicPr>
          <p:nvPr/>
        </p:nvPicPr>
        <p:blipFill>
          <a:blip r:embed="rId12"/>
          <a:stretch>
            <a:fillRect/>
          </a:stretch>
        </p:blipFill>
        <p:spPr>
          <a:xfrm>
            <a:off x="4495800" y="3333750"/>
            <a:ext cx="152400" cy="152400"/>
          </a:xfrm>
          <a:prstGeom prst="rect">
            <a:avLst/>
          </a:prstGeom>
        </p:spPr>
      </p:pic>
      <p:pic>
        <p:nvPicPr>
          <p:cNvPr id="16" name="Image 14" descr="preencoded.png"/>
          <p:cNvPicPr>
            <a:picLocks noChangeAspect="1"/>
          </p:cNvPicPr>
          <p:nvPr/>
        </p:nvPicPr>
        <p:blipFill>
          <a:blip r:embed="rId12"/>
          <a:stretch>
            <a:fillRect/>
          </a:stretch>
        </p:blipFill>
        <p:spPr>
          <a:xfrm>
            <a:off x="4495800" y="3905250"/>
            <a:ext cx="152400" cy="152400"/>
          </a:xfrm>
          <a:prstGeom prst="rect">
            <a:avLst/>
          </a:prstGeom>
        </p:spPr>
      </p:pic>
      <p:pic>
        <p:nvPicPr>
          <p:cNvPr id="18" name="Image 16" descr="preencoded.png"/>
          <p:cNvPicPr>
            <a:picLocks noChangeAspect="1"/>
          </p:cNvPicPr>
          <p:nvPr/>
        </p:nvPicPr>
        <p:blipFill>
          <a:blip r:embed="rId9"/>
          <a:stretch>
            <a:fillRect/>
          </a:stretch>
        </p:blipFill>
        <p:spPr>
          <a:xfrm>
            <a:off x="8153400" y="1828800"/>
            <a:ext cx="3657600" cy="3619500"/>
          </a:xfrm>
          <a:prstGeom prst="rect">
            <a:avLst/>
          </a:prstGeom>
        </p:spPr>
      </p:pic>
      <p:pic>
        <p:nvPicPr>
          <p:cNvPr id="19" name="Image 17" descr="preencoded.png"/>
          <p:cNvPicPr>
            <a:picLocks noChangeAspect="1"/>
          </p:cNvPicPr>
          <p:nvPr/>
        </p:nvPicPr>
        <p:blipFill>
          <a:blip r:embed="rId13"/>
          <a:stretch>
            <a:fillRect/>
          </a:stretch>
        </p:blipFill>
        <p:spPr>
          <a:xfrm>
            <a:off x="8382000" y="2057400"/>
            <a:ext cx="666750" cy="666750"/>
          </a:xfrm>
          <a:prstGeom prst="rect">
            <a:avLst/>
          </a:prstGeom>
        </p:spPr>
      </p:pic>
      <p:pic>
        <p:nvPicPr>
          <p:cNvPr id="20" name="Image 18" descr="preencoded.png"/>
          <p:cNvPicPr>
            <a:picLocks noChangeAspect="1"/>
          </p:cNvPicPr>
          <p:nvPr/>
        </p:nvPicPr>
        <p:blipFill>
          <a:blip r:embed="rId14"/>
          <a:stretch>
            <a:fillRect/>
          </a:stretch>
        </p:blipFill>
        <p:spPr>
          <a:xfrm>
            <a:off x="8534400" y="2219325"/>
            <a:ext cx="361950" cy="342900"/>
          </a:xfrm>
          <a:prstGeom prst="rect">
            <a:avLst/>
          </a:prstGeom>
        </p:spPr>
      </p:pic>
      <p:pic>
        <p:nvPicPr>
          <p:cNvPr id="21" name="Image 19" descr="preencoded.png"/>
          <p:cNvPicPr>
            <a:picLocks noChangeAspect="1"/>
          </p:cNvPicPr>
          <p:nvPr/>
        </p:nvPicPr>
        <p:blipFill>
          <a:blip r:embed="rId15"/>
          <a:stretch>
            <a:fillRect/>
          </a:stretch>
        </p:blipFill>
        <p:spPr>
          <a:xfrm>
            <a:off x="8382000" y="2990850"/>
            <a:ext cx="152400" cy="152400"/>
          </a:xfrm>
          <a:prstGeom prst="rect">
            <a:avLst/>
          </a:prstGeom>
        </p:spPr>
      </p:pic>
      <p:pic>
        <p:nvPicPr>
          <p:cNvPr id="22" name="Image 20" descr="preencoded.png"/>
          <p:cNvPicPr>
            <a:picLocks noChangeAspect="1"/>
          </p:cNvPicPr>
          <p:nvPr/>
        </p:nvPicPr>
        <p:blipFill>
          <a:blip r:embed="rId15"/>
          <a:stretch>
            <a:fillRect/>
          </a:stretch>
        </p:blipFill>
        <p:spPr>
          <a:xfrm>
            <a:off x="8382000" y="3562350"/>
            <a:ext cx="152400" cy="152400"/>
          </a:xfrm>
          <a:prstGeom prst="rect">
            <a:avLst/>
          </a:prstGeom>
        </p:spPr>
      </p:pic>
      <p:pic>
        <p:nvPicPr>
          <p:cNvPr id="23" name="Image 21" descr="preencoded.png"/>
          <p:cNvPicPr>
            <a:picLocks noChangeAspect="1"/>
          </p:cNvPicPr>
          <p:nvPr/>
        </p:nvPicPr>
        <p:blipFill>
          <a:blip r:embed="rId15"/>
          <a:stretch>
            <a:fillRect/>
          </a:stretch>
        </p:blipFill>
        <p:spPr>
          <a:xfrm>
            <a:off x="8382000" y="3905250"/>
            <a:ext cx="152400" cy="152400"/>
          </a:xfrm>
          <a:prstGeom prst="rect">
            <a:avLst/>
          </a:prstGeom>
        </p:spPr>
      </p:pic>
      <p:sp>
        <p:nvSpPr>
          <p:cNvPr id="25" name="Text 0"/>
          <p:cNvSpPr/>
          <p:nvPr/>
        </p:nvSpPr>
        <p:spPr>
          <a:xfrm>
            <a:off x="609600" y="285750"/>
            <a:ext cx="1645920" cy="381000"/>
          </a:xfrm>
          <a:prstGeom prst="rect">
            <a:avLst/>
          </a:prstGeom>
          <a:noFill/>
          <a:ln/>
        </p:spPr>
        <p:txBody>
          <a:bodyPr vert="horz" wrap="square" lIns="0" tIns="0" rIns="0" bIns="0" rtlCol="0" anchor="t"/>
          <a:lstStyle/>
          <a:p>
            <a:pPr marL="0" indent="0">
              <a:lnSpc>
                <a:spcPts val="3000"/>
              </a:lnSpc>
              <a:buNone/>
            </a:pPr>
            <a:r>
              <a:rPr lang="en-US" sz="2700" b="1" dirty="0">
                <a:solidFill>
                  <a:srgbClr val="FFFFFF"/>
                </a:solidFill>
                <a:latin typeface="標楷體" panose="03000509000000000000" pitchFamily="65" charset="-120"/>
                <a:ea typeface="標楷體" panose="03000509000000000000" pitchFamily="65" charset="-120"/>
                <a:cs typeface="ui-sans-serif" pitchFamily="34" charset="-120"/>
              </a:rPr>
              <a:t>綜合評估</a:t>
            </a:r>
            <a:endParaRPr lang="en-US" sz="2700" dirty="0">
              <a:latin typeface="標楷體" panose="03000509000000000000" pitchFamily="65" charset="-120"/>
              <a:ea typeface="標楷體" panose="03000509000000000000" pitchFamily="65" charset="-120"/>
            </a:endParaRPr>
          </a:p>
        </p:txBody>
      </p:sp>
      <p:sp>
        <p:nvSpPr>
          <p:cNvPr id="26" name="Text 1"/>
          <p:cNvSpPr/>
          <p:nvPr/>
        </p:nvSpPr>
        <p:spPr>
          <a:xfrm>
            <a:off x="381000" y="1333500"/>
            <a:ext cx="11430000" cy="266700"/>
          </a:xfrm>
          <a:prstGeom prst="rect">
            <a:avLst/>
          </a:prstGeom>
          <a:noFill/>
          <a:ln/>
        </p:spPr>
        <p:txBody>
          <a:bodyPr vert="horz" wrap="square" lIns="0" tIns="0" rIns="0" bIns="0" rtlCol="0" anchor="t"/>
          <a:lstStyle/>
          <a:p>
            <a:pPr marL="0" indent="0">
              <a:lnSpc>
                <a:spcPts val="2100"/>
              </a:lnSpc>
              <a:buNone/>
            </a:pPr>
            <a:r>
              <a:rPr lang="en-US" sz="1500" dirty="0">
                <a:solidFill>
                  <a:srgbClr val="374151"/>
                </a:solidFill>
                <a:latin typeface="標楷體" panose="03000509000000000000" pitchFamily="65" charset="-120"/>
                <a:ea typeface="標楷體" panose="03000509000000000000" pitchFamily="65" charset="-120"/>
                <a:cs typeface="ui-sans-serif" pitchFamily="34" charset="-120"/>
              </a:rPr>
              <a:t>WearWise 穿搭智友在以下三個關鍵維度展現出卓越價值與可行性</a:t>
            </a:r>
            <a:endParaRPr lang="en-US" sz="1500" dirty="0">
              <a:latin typeface="標楷體" panose="03000509000000000000" pitchFamily="65" charset="-120"/>
              <a:ea typeface="標楷體" panose="03000509000000000000" pitchFamily="65" charset="-120"/>
            </a:endParaRPr>
          </a:p>
        </p:txBody>
      </p:sp>
      <p:sp>
        <p:nvSpPr>
          <p:cNvPr id="27" name="Text 2"/>
          <p:cNvSpPr/>
          <p:nvPr/>
        </p:nvSpPr>
        <p:spPr>
          <a:xfrm>
            <a:off x="1428750" y="2238375"/>
            <a:ext cx="1371600" cy="304800"/>
          </a:xfrm>
          <a:prstGeom prst="rect">
            <a:avLst/>
          </a:prstGeom>
          <a:noFill/>
          <a:ln/>
        </p:spPr>
        <p:txBody>
          <a:bodyPr vert="horz" wrap="square" lIns="0" tIns="0" rIns="0" bIns="0" rtlCol="0" anchor="t"/>
          <a:lstStyle/>
          <a:p>
            <a:pPr marL="0" indent="0">
              <a:lnSpc>
                <a:spcPts val="2400"/>
              </a:lnSpc>
              <a:buNone/>
            </a:pPr>
            <a:r>
              <a:rPr lang="en-US" sz="1800" b="1" dirty="0">
                <a:solidFill>
                  <a:srgbClr val="1F2937"/>
                </a:solidFill>
                <a:latin typeface="標楷體" panose="03000509000000000000" pitchFamily="65" charset="-120"/>
                <a:ea typeface="標楷體" panose="03000509000000000000" pitchFamily="65" charset="-120"/>
                <a:cs typeface="ui-sans-serif" pitchFamily="34" charset="-120"/>
              </a:rPr>
              <a:t>服務創新性</a:t>
            </a:r>
            <a:endParaRPr lang="en-US" sz="1800" dirty="0">
              <a:latin typeface="標楷體" panose="03000509000000000000" pitchFamily="65" charset="-120"/>
              <a:ea typeface="標楷體" panose="03000509000000000000" pitchFamily="65" charset="-120"/>
            </a:endParaRPr>
          </a:p>
        </p:txBody>
      </p:sp>
      <p:sp>
        <p:nvSpPr>
          <p:cNvPr id="28" name="Text 3"/>
          <p:cNvSpPr/>
          <p:nvPr/>
        </p:nvSpPr>
        <p:spPr>
          <a:xfrm>
            <a:off x="838200" y="2952750"/>
            <a:ext cx="2971800" cy="457200"/>
          </a:xfrm>
          <a:prstGeom prst="rect">
            <a:avLst/>
          </a:prstGeom>
          <a:noFill/>
          <a:ln/>
        </p:spPr>
        <p:txBody>
          <a:bodyPr vert="horz" wrap="square" lIns="0" tIns="0" rIns="0" bIns="0" rtlCol="0" anchor="t"/>
          <a:lstStyle/>
          <a:p>
            <a:pPr marL="0" indent="0" algn="l">
              <a:lnSpc>
                <a:spcPts val="1800"/>
              </a:lnSpc>
              <a:buNone/>
            </a:pPr>
            <a:r>
              <a:rPr lang="en-US" sz="1200" dirty="0">
                <a:solidFill>
                  <a:srgbClr val="4B5563"/>
                </a:solidFill>
                <a:latin typeface="標楷體" panose="03000509000000000000" pitchFamily="65" charset="-120"/>
                <a:ea typeface="標楷體" panose="03000509000000000000" pitchFamily="65" charset="-120"/>
                <a:cs typeface="ui-sans-serif" pitchFamily="34" charset="-120"/>
              </a:rPr>
              <a:t>突破傳統穿搭應用單一模型限制的雙層AI架構</a:t>
            </a:r>
            <a:endParaRPr lang="en-US" sz="1200" dirty="0">
              <a:latin typeface="標楷體" panose="03000509000000000000" pitchFamily="65" charset="-120"/>
              <a:ea typeface="標楷體" panose="03000509000000000000" pitchFamily="65" charset="-120"/>
            </a:endParaRPr>
          </a:p>
        </p:txBody>
      </p:sp>
      <p:sp>
        <p:nvSpPr>
          <p:cNvPr id="29" name="Text 4"/>
          <p:cNvSpPr/>
          <p:nvPr/>
        </p:nvSpPr>
        <p:spPr>
          <a:xfrm>
            <a:off x="838200" y="3524250"/>
            <a:ext cx="2971800" cy="457200"/>
          </a:xfrm>
          <a:prstGeom prst="rect">
            <a:avLst/>
          </a:prstGeom>
          <a:noFill/>
          <a:ln/>
        </p:spPr>
        <p:txBody>
          <a:bodyPr vert="horz" wrap="square" lIns="0" tIns="0" rIns="0" bIns="0" rtlCol="0" anchor="t"/>
          <a:lstStyle/>
          <a:p>
            <a:pPr marL="0" indent="0" algn="l">
              <a:lnSpc>
                <a:spcPts val="1800"/>
              </a:lnSpc>
              <a:buNone/>
            </a:pPr>
            <a:r>
              <a:rPr lang="en-US" sz="1200" dirty="0">
                <a:solidFill>
                  <a:srgbClr val="4B5563"/>
                </a:solidFill>
                <a:latin typeface="標楷體" panose="03000509000000000000" pitchFamily="65" charset="-120"/>
                <a:ea typeface="標楷體" panose="03000509000000000000" pitchFamily="65" charset="-120"/>
                <a:cs typeface="ui-sans-serif" pitchFamily="34" charset="-120"/>
              </a:rPr>
              <a:t>「可解釋AI推薦」將AI從工具轉化為學習夥伴</a:t>
            </a:r>
            <a:endParaRPr lang="en-US" sz="1200" dirty="0">
              <a:latin typeface="標楷體" panose="03000509000000000000" pitchFamily="65" charset="-120"/>
              <a:ea typeface="標楷體" panose="03000509000000000000" pitchFamily="65" charset="-120"/>
            </a:endParaRPr>
          </a:p>
        </p:txBody>
      </p:sp>
      <p:sp>
        <p:nvSpPr>
          <p:cNvPr id="30" name="Text 5"/>
          <p:cNvSpPr/>
          <p:nvPr/>
        </p:nvSpPr>
        <p:spPr>
          <a:xfrm>
            <a:off x="838200" y="4095750"/>
            <a:ext cx="2926080" cy="228600"/>
          </a:xfrm>
          <a:prstGeom prst="rect">
            <a:avLst/>
          </a:prstGeom>
          <a:noFill/>
          <a:ln/>
        </p:spPr>
        <p:txBody>
          <a:bodyPr vert="horz" wrap="square" lIns="0" tIns="0" rIns="0" bIns="0" rtlCol="0" anchor="t"/>
          <a:lstStyle/>
          <a:p>
            <a:pPr marL="0" indent="0" algn="l">
              <a:lnSpc>
                <a:spcPts val="1800"/>
              </a:lnSpc>
              <a:buNone/>
            </a:pPr>
            <a:r>
              <a:rPr lang="en-US" sz="1200" dirty="0">
                <a:solidFill>
                  <a:srgbClr val="4B5563"/>
                </a:solidFill>
                <a:latin typeface="標楷體" panose="03000509000000000000" pitchFamily="65" charset="-120"/>
                <a:ea typeface="標楷體" panose="03000509000000000000" pitchFamily="65" charset="-120"/>
                <a:cs typeface="ui-sans-serif" pitchFamily="34" charset="-120"/>
              </a:rPr>
              <a:t>在效率、隱私與智慧化之間取得平衡</a:t>
            </a:r>
            <a:endParaRPr lang="en-US" sz="1200" dirty="0">
              <a:latin typeface="標楷體" panose="03000509000000000000" pitchFamily="65" charset="-120"/>
              <a:ea typeface="標楷體" panose="03000509000000000000" pitchFamily="65" charset="-120"/>
            </a:endParaRPr>
          </a:p>
        </p:txBody>
      </p:sp>
      <p:sp>
        <p:nvSpPr>
          <p:cNvPr id="31" name="Text 6"/>
          <p:cNvSpPr/>
          <p:nvPr/>
        </p:nvSpPr>
        <p:spPr>
          <a:xfrm>
            <a:off x="5314950" y="2238375"/>
            <a:ext cx="1371600" cy="304800"/>
          </a:xfrm>
          <a:prstGeom prst="rect">
            <a:avLst/>
          </a:prstGeom>
          <a:noFill/>
          <a:ln/>
        </p:spPr>
        <p:txBody>
          <a:bodyPr vert="horz" wrap="square" lIns="0" tIns="0" rIns="0" bIns="0" rtlCol="0" anchor="t"/>
          <a:lstStyle/>
          <a:p>
            <a:pPr marL="0" indent="0">
              <a:lnSpc>
                <a:spcPts val="2400"/>
              </a:lnSpc>
              <a:buNone/>
            </a:pPr>
            <a:r>
              <a:rPr lang="en-US" sz="1800" b="1" dirty="0">
                <a:solidFill>
                  <a:srgbClr val="1F2937"/>
                </a:solidFill>
                <a:latin typeface="標楷體" panose="03000509000000000000" pitchFamily="65" charset="-120"/>
                <a:ea typeface="標楷體" panose="03000509000000000000" pitchFamily="65" charset="-120"/>
                <a:cs typeface="ui-sans-serif" pitchFamily="34" charset="-120"/>
              </a:rPr>
              <a:t>技術可行性</a:t>
            </a:r>
            <a:endParaRPr lang="en-US" sz="1800" dirty="0">
              <a:latin typeface="標楷體" panose="03000509000000000000" pitchFamily="65" charset="-120"/>
              <a:ea typeface="標楷體" panose="03000509000000000000" pitchFamily="65" charset="-120"/>
            </a:endParaRPr>
          </a:p>
        </p:txBody>
      </p:sp>
      <p:sp>
        <p:nvSpPr>
          <p:cNvPr id="32" name="Text 7"/>
          <p:cNvSpPr/>
          <p:nvPr/>
        </p:nvSpPr>
        <p:spPr>
          <a:xfrm>
            <a:off x="4724400" y="2952750"/>
            <a:ext cx="2797671" cy="228600"/>
          </a:xfrm>
          <a:prstGeom prst="rect">
            <a:avLst/>
          </a:prstGeom>
          <a:noFill/>
          <a:ln/>
        </p:spPr>
        <p:txBody>
          <a:bodyPr vert="horz" wrap="square" lIns="0" tIns="0" rIns="0" bIns="0" rtlCol="0" anchor="t"/>
          <a:lstStyle/>
          <a:p>
            <a:pPr marL="0" indent="0" algn="l">
              <a:lnSpc>
                <a:spcPts val="1800"/>
              </a:lnSpc>
              <a:buNone/>
            </a:pPr>
            <a:r>
              <a:rPr lang="en-US" sz="1200" dirty="0">
                <a:solidFill>
                  <a:srgbClr val="4B5563"/>
                </a:solidFill>
                <a:latin typeface="標楷體" panose="03000509000000000000" pitchFamily="65" charset="-120"/>
                <a:ea typeface="標楷體" panose="03000509000000000000" pitchFamily="65" charset="-120"/>
                <a:cs typeface="ui-sans-serif" pitchFamily="34" charset="-120"/>
              </a:rPr>
              <a:t>Flutter前端開發確保跨平台一致性</a:t>
            </a:r>
            <a:endParaRPr lang="en-US" sz="1200" dirty="0">
              <a:latin typeface="標楷體" panose="03000509000000000000" pitchFamily="65" charset="-120"/>
              <a:ea typeface="標楷體" panose="03000509000000000000" pitchFamily="65" charset="-120"/>
            </a:endParaRPr>
          </a:p>
        </p:txBody>
      </p:sp>
      <p:sp>
        <p:nvSpPr>
          <p:cNvPr id="33" name="Text 8"/>
          <p:cNvSpPr/>
          <p:nvPr/>
        </p:nvSpPr>
        <p:spPr>
          <a:xfrm>
            <a:off x="4724400" y="3295650"/>
            <a:ext cx="2971800" cy="457200"/>
          </a:xfrm>
          <a:prstGeom prst="rect">
            <a:avLst/>
          </a:prstGeom>
          <a:noFill/>
          <a:ln/>
        </p:spPr>
        <p:txBody>
          <a:bodyPr vert="horz" wrap="square" lIns="0" tIns="0" rIns="0" bIns="0" rtlCol="0" anchor="t"/>
          <a:lstStyle/>
          <a:p>
            <a:pPr marL="0" indent="0" algn="l">
              <a:lnSpc>
                <a:spcPts val="1800"/>
              </a:lnSpc>
              <a:buNone/>
            </a:pPr>
            <a:r>
              <a:rPr lang="en-US" sz="1200" dirty="0">
                <a:solidFill>
                  <a:srgbClr val="4B5563"/>
                </a:solidFill>
                <a:latin typeface="標楷體" panose="03000509000000000000" pitchFamily="65" charset="-120"/>
                <a:ea typeface="標楷體" panose="03000509000000000000" pitchFamily="65" charset="-120"/>
                <a:cs typeface="ui-sans-serif" pitchFamily="34" charset="-120"/>
              </a:rPr>
              <a:t>TensorFlow Lite模型運行流暢，性能要求低</a:t>
            </a:r>
            <a:endParaRPr lang="en-US" sz="1200" dirty="0">
              <a:latin typeface="標楷體" panose="03000509000000000000" pitchFamily="65" charset="-120"/>
              <a:ea typeface="標楷體" panose="03000509000000000000" pitchFamily="65" charset="-120"/>
            </a:endParaRPr>
          </a:p>
        </p:txBody>
      </p:sp>
      <p:sp>
        <p:nvSpPr>
          <p:cNvPr id="34" name="Text 9"/>
          <p:cNvSpPr/>
          <p:nvPr/>
        </p:nvSpPr>
        <p:spPr>
          <a:xfrm>
            <a:off x="4724400" y="3867150"/>
            <a:ext cx="3094315" cy="228600"/>
          </a:xfrm>
          <a:prstGeom prst="rect">
            <a:avLst/>
          </a:prstGeom>
          <a:noFill/>
          <a:ln/>
        </p:spPr>
        <p:txBody>
          <a:bodyPr vert="horz" wrap="square" lIns="0" tIns="0" rIns="0" bIns="0" rtlCol="0" anchor="t"/>
          <a:lstStyle/>
          <a:p>
            <a:pPr marL="0" indent="0" algn="l">
              <a:lnSpc>
                <a:spcPts val="1800"/>
              </a:lnSpc>
              <a:buNone/>
            </a:pPr>
            <a:r>
              <a:rPr lang="en-US" sz="1200" dirty="0">
                <a:solidFill>
                  <a:srgbClr val="4B5563"/>
                </a:solidFill>
                <a:latin typeface="標楷體" panose="03000509000000000000" pitchFamily="65" charset="-120"/>
                <a:ea typeface="標楷體" panose="03000509000000000000" pitchFamily="65" charset="-120"/>
                <a:cs typeface="ui-sans-serif" pitchFamily="34" charset="-120"/>
              </a:rPr>
              <a:t>"輕前端、強後台"架構減輕伺服器負載</a:t>
            </a:r>
            <a:endParaRPr lang="en-US" sz="1200" dirty="0">
              <a:latin typeface="標楷體" panose="03000509000000000000" pitchFamily="65" charset="-120"/>
              <a:ea typeface="標楷體" panose="03000509000000000000" pitchFamily="65" charset="-120"/>
            </a:endParaRPr>
          </a:p>
        </p:txBody>
      </p:sp>
      <p:sp>
        <p:nvSpPr>
          <p:cNvPr id="35" name="Text 10"/>
          <p:cNvSpPr/>
          <p:nvPr/>
        </p:nvSpPr>
        <p:spPr>
          <a:xfrm>
            <a:off x="9201150" y="2238375"/>
            <a:ext cx="1371600" cy="304800"/>
          </a:xfrm>
          <a:prstGeom prst="rect">
            <a:avLst/>
          </a:prstGeom>
          <a:noFill/>
          <a:ln/>
        </p:spPr>
        <p:txBody>
          <a:bodyPr vert="horz" wrap="square" lIns="0" tIns="0" rIns="0" bIns="0" rtlCol="0" anchor="t"/>
          <a:lstStyle/>
          <a:p>
            <a:pPr marL="0" indent="0">
              <a:lnSpc>
                <a:spcPts val="2400"/>
              </a:lnSpc>
              <a:buNone/>
            </a:pPr>
            <a:r>
              <a:rPr lang="en-US" sz="1800" b="1" dirty="0">
                <a:solidFill>
                  <a:srgbClr val="1F2937"/>
                </a:solidFill>
                <a:latin typeface="標楷體" panose="03000509000000000000" pitchFamily="65" charset="-120"/>
                <a:ea typeface="標楷體" panose="03000509000000000000" pitchFamily="65" charset="-120"/>
                <a:cs typeface="ui-sans-serif" pitchFamily="34" charset="-120"/>
              </a:rPr>
              <a:t>議題契合性</a:t>
            </a:r>
            <a:endParaRPr lang="en-US" sz="1800" dirty="0">
              <a:latin typeface="標楷體" panose="03000509000000000000" pitchFamily="65" charset="-120"/>
              <a:ea typeface="標楷體" panose="03000509000000000000" pitchFamily="65" charset="-120"/>
            </a:endParaRPr>
          </a:p>
        </p:txBody>
      </p:sp>
      <p:sp>
        <p:nvSpPr>
          <p:cNvPr id="36" name="Text 11"/>
          <p:cNvSpPr/>
          <p:nvPr/>
        </p:nvSpPr>
        <p:spPr>
          <a:xfrm>
            <a:off x="8610600" y="2952750"/>
            <a:ext cx="2971800" cy="457200"/>
          </a:xfrm>
          <a:prstGeom prst="rect">
            <a:avLst/>
          </a:prstGeom>
          <a:noFill/>
          <a:ln/>
        </p:spPr>
        <p:txBody>
          <a:bodyPr vert="horz" wrap="square" lIns="0" tIns="0" rIns="0" bIns="0" rtlCol="0" anchor="t"/>
          <a:lstStyle/>
          <a:p>
            <a:pPr marL="0" indent="0" algn="l">
              <a:lnSpc>
                <a:spcPts val="1800"/>
              </a:lnSpc>
              <a:buNone/>
            </a:pPr>
            <a:r>
              <a:rPr lang="en-US" sz="1200" dirty="0">
                <a:solidFill>
                  <a:srgbClr val="4B5563"/>
                </a:solidFill>
                <a:latin typeface="標楷體" panose="03000509000000000000" pitchFamily="65" charset="-120"/>
                <a:ea typeface="標楷體" panose="03000509000000000000" pitchFamily="65" charset="-120"/>
                <a:cs typeface="ui-sans-serif" pitchFamily="34" charset="-120"/>
              </a:rPr>
              <a:t>透過AI膠囊衣櫥分析響應「永續消費」社會價值</a:t>
            </a:r>
            <a:endParaRPr lang="en-US" sz="1200" dirty="0">
              <a:latin typeface="標楷體" panose="03000509000000000000" pitchFamily="65" charset="-120"/>
              <a:ea typeface="標楷體" panose="03000509000000000000" pitchFamily="65" charset="-120"/>
            </a:endParaRPr>
          </a:p>
        </p:txBody>
      </p:sp>
      <p:sp>
        <p:nvSpPr>
          <p:cNvPr id="37" name="Text 12"/>
          <p:cNvSpPr/>
          <p:nvPr/>
        </p:nvSpPr>
        <p:spPr>
          <a:xfrm>
            <a:off x="8610600" y="3524250"/>
            <a:ext cx="3108960" cy="228600"/>
          </a:xfrm>
          <a:prstGeom prst="rect">
            <a:avLst/>
          </a:prstGeom>
          <a:noFill/>
          <a:ln/>
        </p:spPr>
        <p:txBody>
          <a:bodyPr vert="horz" wrap="square" lIns="0" tIns="0" rIns="0" bIns="0" rtlCol="0" anchor="t"/>
          <a:lstStyle/>
          <a:p>
            <a:pPr marL="0" indent="0" algn="l">
              <a:lnSpc>
                <a:spcPts val="1800"/>
              </a:lnSpc>
              <a:buNone/>
            </a:pPr>
            <a:r>
              <a:rPr lang="en-US" sz="1200" dirty="0">
                <a:solidFill>
                  <a:srgbClr val="4B5563"/>
                </a:solidFill>
                <a:latin typeface="標楷體" panose="03000509000000000000" pitchFamily="65" charset="-120"/>
                <a:ea typeface="標楷體" panose="03000509000000000000" pitchFamily="65" charset="-120"/>
                <a:cs typeface="ui-sans-serif" pitchFamily="34" charset="-120"/>
              </a:rPr>
              <a:t>未來規劃中的永續分析與時尚循環功能</a:t>
            </a:r>
            <a:endParaRPr lang="en-US" sz="1200" dirty="0">
              <a:latin typeface="標楷體" panose="03000509000000000000" pitchFamily="65" charset="-120"/>
              <a:ea typeface="標楷體" panose="03000509000000000000" pitchFamily="65" charset="-120"/>
            </a:endParaRPr>
          </a:p>
        </p:txBody>
      </p:sp>
      <p:sp>
        <p:nvSpPr>
          <p:cNvPr id="38" name="Text 13"/>
          <p:cNvSpPr/>
          <p:nvPr/>
        </p:nvSpPr>
        <p:spPr>
          <a:xfrm>
            <a:off x="8610600" y="3867150"/>
            <a:ext cx="3291840" cy="228600"/>
          </a:xfrm>
          <a:prstGeom prst="rect">
            <a:avLst/>
          </a:prstGeom>
          <a:noFill/>
          <a:ln/>
        </p:spPr>
        <p:txBody>
          <a:bodyPr vert="horz" wrap="square" lIns="0" tIns="0" rIns="0" bIns="0" rtlCol="0" anchor="t"/>
          <a:lstStyle/>
          <a:p>
            <a:pPr marL="0" indent="0" algn="l">
              <a:lnSpc>
                <a:spcPts val="1800"/>
              </a:lnSpc>
              <a:buNone/>
            </a:pPr>
            <a:r>
              <a:rPr lang="en-US" sz="1200" dirty="0">
                <a:solidFill>
                  <a:srgbClr val="4B5563"/>
                </a:solidFill>
                <a:latin typeface="標楷體" panose="03000509000000000000" pitchFamily="65" charset="-120"/>
                <a:ea typeface="標楷體" panose="03000509000000000000" pitchFamily="65" charset="-120"/>
                <a:cs typeface="ui-sans-serif" pitchFamily="34" charset="-120"/>
              </a:rPr>
              <a:t>隱私友善設計尊重並保護使用者數據權利</a:t>
            </a:r>
            <a:endParaRPr lang="en-US" sz="1200" dirty="0">
              <a:latin typeface="標楷體" panose="03000509000000000000" pitchFamily="65" charset="-120"/>
              <a:ea typeface="標楷體" panose="03000509000000000000" pitchFamily="65" charset="-120"/>
            </a:endParaRPr>
          </a:p>
        </p:txBody>
      </p:sp>
      <p:sp>
        <p:nvSpPr>
          <p:cNvPr id="39" name="Text 14"/>
          <p:cNvSpPr/>
          <p:nvPr/>
        </p:nvSpPr>
        <p:spPr>
          <a:xfrm>
            <a:off x="381000" y="5753100"/>
            <a:ext cx="11430000" cy="800100"/>
          </a:xfrm>
          <a:prstGeom prst="rect">
            <a:avLst/>
          </a:prstGeom>
          <a:noFill/>
          <a:ln/>
        </p:spPr>
        <p:txBody>
          <a:bodyPr vert="horz" wrap="square" lIns="0" tIns="0" rIns="0" bIns="0" rtlCol="0" anchor="t"/>
          <a:lstStyle/>
          <a:p>
            <a:pPr marL="0" indent="0" algn="ctr">
              <a:lnSpc>
                <a:spcPts val="2100"/>
              </a:lnSpc>
              <a:buNone/>
            </a:pPr>
            <a:r>
              <a:rPr lang="en-US" sz="1500" b="1" dirty="0">
                <a:solidFill>
                  <a:srgbClr val="374151"/>
                </a:solidFill>
                <a:latin typeface="標楷體" panose="03000509000000000000" pitchFamily="65" charset="-120"/>
                <a:ea typeface="標楷體" panose="03000509000000000000" pitchFamily="65" charset="-120"/>
                <a:cs typeface="ui-sans-serif" pitchFamily="34" charset="-120"/>
              </a:rPr>
              <a:t>WearWise 穿搭智友透過創新模式與技術實現，
同時兼具創新性、可行性與社會價值，
成為時尚科技領域的前瞻解決方案</a:t>
            </a:r>
            <a:endParaRPr lang="en-US" sz="1500" dirty="0">
              <a:latin typeface="標楷體" panose="03000509000000000000" pitchFamily="65" charset="-120"/>
              <a:ea typeface="標楷體" panose="03000509000000000000" pitchFamily="65" charset="-120"/>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56</TotalTime>
  <Words>761</Words>
  <Application>Microsoft Office PowerPoint</Application>
  <PresentationFormat>寬螢幕</PresentationFormat>
  <Paragraphs>117</Paragraphs>
  <Slides>9</Slides>
  <Notes>9</Notes>
  <HiddenSlides>0</HiddenSlides>
  <MMClips>0</MMClips>
  <ScaleCrop>false</ScaleCrop>
  <HeadingPairs>
    <vt:vector size="6" baseType="variant">
      <vt:variant>
        <vt:lpstr>使用字型</vt:lpstr>
      </vt:variant>
      <vt:variant>
        <vt:i4>2</vt:i4>
      </vt:variant>
      <vt:variant>
        <vt:lpstr>佈景主題</vt:lpstr>
      </vt:variant>
      <vt:variant>
        <vt:i4>1</vt:i4>
      </vt:variant>
      <vt:variant>
        <vt:lpstr>投影片標題</vt:lpstr>
      </vt:variant>
      <vt:variant>
        <vt:i4>9</vt:i4>
      </vt:variant>
    </vt:vector>
  </HeadingPairs>
  <TitlesOfParts>
    <vt:vector size="12" baseType="lpstr">
      <vt:lpstr>標楷體</vt:lpstr>
      <vt:lpstr>Arial</vt:lpstr>
      <vt:lpstr>Office Theme</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Anderson Chen</cp:lastModifiedBy>
  <cp:revision>4</cp:revision>
  <dcterms:created xsi:type="dcterms:W3CDTF">2025-11-02T08:55:24Z</dcterms:created>
  <dcterms:modified xsi:type="dcterms:W3CDTF">2025-11-06T10:51:10Z</dcterms:modified>
</cp:coreProperties>
</file>